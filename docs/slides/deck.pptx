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16. I am Sonu Akash and this is Rahul Saran. Our project asks a simple question: if a computer reads thousands of tweets written by American politicians, can it learn to tell whether a news article leans left or right? I will cover the problem, the data, how we tested, and our first results. Rahul will then cover the news articles and our other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matter? Most news has some political lean, and readers often do not notice it. A tool that flags the lean would help people read more critically. The hard part is labels: someone has to read each article and decide. Tweets by members of Congress solve that, because we already know each author's party. So the idea is to learn which words sound Democratic or Republican from tweets, and then use that on news articles.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 a Stanford student project by Crain and Erhan from 2021. They trained simple models on about 104 thousand tweets and reported 86.7 percent accuracy on tweets, but only 63 percent on 100 news articles. We found three issues. Their test tweets came from the same people as the training tweets. They picked one setting by checking the test set. And their 100 articles were never released. Our goals are to rebuild their models, fix those three issues, and measure honestly.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tweets come from a public archive of every tweet by members of Congress. We used the same three months as the paper and kept House members only: about 122 thousand tweets from 450 people. Each tweet gets its author's party as the answer. For news we used a public dataset from AllSides, which rates articles as left, centre or right; we kept left and right, 1,001 test articles. One thing to remember: 64 percent of the tweets are from Democrats, so a lazy model that always says Democrat already gets about 61 to 64 percent. Any real model must beat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process in four steps. One, collect the tweets and attach the party. Two, clean the text, in three versions like the paper: keep everything, remove punctuation, or also remove hashtags and at-mentions. Three, turn each tweet into numbers: how often each word appears, or simply whether it appears. Four, train the models. Naive Bayes, which we wrote ourselves, counts how often each word appears for each party. The SVM draws the best dividing line between the two parties. Then we score them on data they have never seen.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The paper shuffled all tweets randomly into train and test. That means the same politician is in both. In our random split, 441 of the 442 people in the test set were also in training, so the model can simply recognise the person, for example their name or their district hashtag, instead of learning politics. We split by person: 360 members for training, 90 completely new members for testing, with no overlap. We also chose every setting using only the training data, by testing on held-out groups of people inside it, never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1 repeats the paper's tweet test. On the left, the random split: our models score 80 to 86 percent, close to the paper's numbers, so our rebuild works. On the right, the fair split by person: everything drops, and the best model, the SVM, gets 81.2 percent. On average the random split adds 5 accuracy points, up to 6.8 points. So part of the paper's score came from recognising people. The good news: all models are still well above the 61 percent you get by always guessing Democrat, so they do learn real political language.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2 asks which words the model finds most Democratic or most Republican. Turquoise bars are Democratic words, gold bars are Republican words. With all words kept, the top of the list is hashtags and account names, like the American Rescue Plan hashtag or at-Newsmax. Some are used by just one person: the az01 hashtag is one member's district. That is the memorising problem from the last slide. When we remove hashtags and mentions, real policy words appear: reproductive and inequity on the Democratic side, unborn, amnesty and lockdowns on the Republican side.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improvement. TF-IDF gives less weight to words that every politician uses, and we also add pairs of words, so short phrases count. A logistic regression model then makes the decision, and we tuned it on training data only. On new members it is our best tweet model: 83.3 percent accuracy, and 2.9 points better on a balanced score that treats both parties equally. But to be honest, on news articles it gets 59.2 percent, which is no better than always guessing Republican. Better on tweets does not mean better on news. Rahul will now look at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direct test of whether tweet-trained models transfer to news. The paper reports 63% for SVM on 100 private articles. On 1,001 public articles, our tuned tweet SVM scores 58.4%, below the 59.8% always-Right baseline. Bernoulli and Multinomial Naive Bayes are slightly above that baseline at 60.6% and 60.5%.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Transfer errors vary by outlet. CNN is below the 50% line in this chart, while some outlets are substantially higher. Examples include a CNN report on spending cuts classified as Right and a Salon article mentioning conservative politics classified as Right. This suggests that labels inherited from an outlet do not always match the language of one article.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selected 50-word chunks using the training validation data. Chunk voting gives Bernoulli Naive Bayes a small accuracy increase from 60.6% to 60.8%, but it drops tuned LinearSVC from 58.4% to 51.8%. The result is mixed, so we do not claim that chunking is a general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on news articles reduces the domain mismatch. LinearSVC scores 66.5% accuracy and 65.8% macro F1, which is 6.7 percentage points above the 59.8% always-Right baseline. The three-class Left, Center, Right version remains harder: Multinomial Naive Bayes is best there at 53.7% accuracy.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docs/demo_script.md. First, score the Breitbart article, where the article-trained model correctly predicts Right. Second, show the CNN example that the article model predicts as Right, then switch to the tweet-trained SVM, which predicts Left. Third, paste the prepared free-text sentence and point out the near-even result. Keep this slide and the live walk-through to these three steps.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use different test settings, so they should not be compared as if they came from the same task. Extension 1 reaches 83.3% on the grouped tweet test. Extension 3 reaches 66.5% on the article test. The article majority baseline is 59.8%, so in-domain article training provides the clearest gain on that task.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labels are proxies: a politician's party or an outlet's AllSides label. They cannot describe every individual tweet or article perfectly. Tweet-trained models also transfer poorly to news. The three-class article task reaches 53.7% at best. Future work should collect article-level labels and evaluate across time periods and outlets that were not part of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Keep the demo and results files ready in case a question needs a quick example or an exact number.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Cover panel"/>
          <p:cNvSpPr/>
          <p:nvPr/>
        </p:nvSpPr>
        <p:spPr>
          <a:xfrm>
            <a:off x="0" y="1097280"/>
            <a:ext cx="8778240" cy="3566160"/>
          </a:xfrm>
          <a:prstGeom prst="rect">
            <a:avLst/>
          </a:prstGeom>
          <a:solidFill>
            <a:srgbClr val="05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 title"/>
          <p:cNvSpPr txBox="1"/>
          <p:nvPr/>
        </p:nvSpPr>
        <p:spPr>
          <a:xfrm>
            <a:off x="914400" y="1600200"/>
            <a:ext cx="7315200" cy="1828800"/>
          </a:xfrm>
          <a:prstGeom prst="rect">
            <a:avLst/>
          </a:prstGeom>
          <a:noFill/>
        </p:spPr>
        <p:txBody>
          <a:bodyPr wrap="square" lIns="0" rIns="0" tIns="0" bIns="0" anchor="t">
            <a:spAutoFit/>
          </a:bodyPr>
          <a:lstStyle/>
          <a:p>
            <a:pPr algn="l">
              <a:spcAft>
                <a:spcPts val="200"/>
              </a:spcAft>
            </a:pPr>
            <a:r>
              <a:rPr sz="3800" b="1" i="0" spc="500">
                <a:solidFill>
                  <a:srgbClr val="F2EFE6"/>
                </a:solidFill>
                <a:latin typeface="Georgia"/>
              </a:rPr>
              <a:t>POLITICAL BIAS</a:t>
            </a:r>
          </a:p>
          <a:p>
            <a:pPr algn="l">
              <a:spcAft>
                <a:spcPts val="200"/>
              </a:spcAft>
            </a:pPr>
            <a:r>
              <a:rPr sz="3800" b="0" i="0" spc="500">
                <a:solidFill>
                  <a:srgbClr val="F2EFE6"/>
                </a:solidFill>
                <a:latin typeface="Georgia"/>
              </a:rPr>
              <a:t>IN NEWS ARTICLES</a:t>
            </a:r>
          </a:p>
        </p:txBody>
      </p:sp>
      <p:sp>
        <p:nvSpPr>
          <p:cNvPr id="4" name="Cover subtitle"/>
          <p:cNvSpPr txBox="1"/>
          <p:nvPr/>
        </p:nvSpPr>
        <p:spPr>
          <a:xfrm>
            <a:off x="914400" y="3429000"/>
            <a:ext cx="7132320" cy="914400"/>
          </a:xfrm>
          <a:prstGeom prst="rect">
            <a:avLst/>
          </a:prstGeom>
          <a:noFill/>
        </p:spPr>
        <p:txBody>
          <a:bodyPr wrap="square" lIns="0" rIns="0" tIns="0" bIns="0" anchor="t">
            <a:spAutoFit/>
          </a:bodyPr>
          <a:lstStyle/>
          <a:p>
            <a:pPr algn="l">
              <a:spcAft>
                <a:spcPts val="0"/>
              </a:spcAft>
            </a:pPr>
            <a:r>
              <a:rPr sz="1800" b="0" i="1">
                <a:solidFill>
                  <a:srgbClr val="BCAC79"/>
                </a:solidFill>
                <a:latin typeface="Calibri"/>
              </a:rPr>
              <a:t>Can politicians' tweets teach a computer to spot left and right news?</a:t>
            </a:r>
          </a:p>
        </p:txBody>
      </p:sp>
      <p:sp>
        <p:nvSpPr>
          <p:cNvPr id="5" name="Cover people"/>
          <p:cNvSpPr txBox="1"/>
          <p:nvPr/>
        </p:nvSpPr>
        <p:spPr>
          <a:xfrm>
            <a:off x="914400" y="5074920"/>
            <a:ext cx="10058400" cy="1097280"/>
          </a:xfrm>
          <a:prstGeom prst="rect">
            <a:avLst/>
          </a:prstGeom>
          <a:noFill/>
        </p:spPr>
        <p:txBody>
          <a:bodyPr wrap="square" lIns="0" rIns="0" tIns="0" bIns="0" anchor="t">
            <a:spAutoFit/>
          </a:bodyPr>
          <a:lstStyle/>
          <a:p>
            <a:pPr>
              <a:spcAft>
                <a:spcPts val="400"/>
              </a:spcAft>
            </a:pPr>
            <a:r>
              <a:rPr sz="1800" b="1" i="0">
                <a:solidFill>
                  <a:srgbClr val="051218"/>
                </a:solidFill>
                <a:latin typeface="Calibri"/>
              </a:rPr>
              <a:t>Sonu Akash Soundararajan</a:t>
            </a:r>
            <a:r>
              <a:rPr sz="1600" b="0" i="0" spc="100">
                <a:solidFill>
                  <a:srgbClr val="5B6B70"/>
                </a:solidFill>
                <a:latin typeface="Calibri"/>
              </a:rPr>
              <a:t>    PES1UG24AM908</a:t>
            </a:r>
          </a:p>
          <a:p>
            <a:pPr>
              <a:spcAft>
                <a:spcPts val="400"/>
              </a:spcAft>
            </a:pPr>
            <a:r>
              <a:rPr sz="1800" b="1" i="0">
                <a:solidFill>
                  <a:srgbClr val="051218"/>
                </a:solidFill>
                <a:latin typeface="Calibri"/>
              </a:rPr>
              <a:t>Rahul Saran Sharma</a:t>
            </a:r>
            <a:r>
              <a:rPr sz="1600" b="0" i="0" spc="100">
                <a:solidFill>
                  <a:srgbClr val="5B6B70"/>
                </a:solidFill>
                <a:latin typeface="Calibri"/>
              </a:rPr>
              <a:t>    PES1UG24AM218</a:t>
            </a:r>
          </a:p>
        </p:txBody>
      </p:sp>
      <p:sp>
        <p:nvSpPr>
          <p:cNvPr id="6" name="Cover course"/>
          <p:cNvSpPr txBox="1"/>
          <p:nvPr/>
        </p:nvSpPr>
        <p:spPr>
          <a:xfrm>
            <a:off x="914400" y="6080760"/>
            <a:ext cx="10058400" cy="365760"/>
          </a:xfrm>
          <a:prstGeom prst="rect">
            <a:avLst/>
          </a:prstGeom>
          <a:noFill/>
        </p:spPr>
        <p:txBody>
          <a:bodyPr wrap="square" lIns="0" rIns="0" tIns="0" bIns="0" anchor="t">
            <a:spAutoFit/>
          </a:bodyPr>
          <a:lstStyle/>
          <a:p>
            <a:pPr algn="l">
              <a:spcAft>
                <a:spcPts val="0"/>
              </a:spcAft>
            </a:pPr>
            <a:r>
              <a:rPr sz="1200" b="1" i="0" spc="300">
                <a:solidFill>
                  <a:srgbClr val="053944"/>
                </a:solidFill>
                <a:latin typeface="Calibri"/>
              </a:rPr>
              <a:t>UE24CS352A MACHINE LEARNING  |  SECTION D  |  TEAM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THE</a:t>
            </a:r>
            <a:r>
              <a:rPr sz="2600" b="0" i="0" spc="400">
                <a:solidFill>
                  <a:srgbClr val="051218"/>
                </a:solidFill>
                <a:latin typeface="Georgia"/>
              </a:rPr>
              <a:t> PROBLEM</a:t>
            </a:r>
          </a:p>
        </p:txBody>
      </p:sp>
      <p:sp>
        <p:nvSpPr>
          <p:cNvPr id="3" name="Bullets"/>
          <p:cNvSpPr txBox="1"/>
          <p:nvPr/>
        </p:nvSpPr>
        <p:spPr>
          <a:xfrm>
            <a:off x="548640" y="1417320"/>
            <a:ext cx="6583680" cy="4617720"/>
          </a:xfrm>
          <a:prstGeom prst="rect">
            <a:avLst/>
          </a:prstGeom>
          <a:noFill/>
        </p:spPr>
        <p:txBody>
          <a:bodyPr wrap="square" lIns="0" rIns="0" tIns="0" bIns="0" anchor="ctr">
            <a:spAutoFit/>
          </a:bodyPr>
          <a:lstStyle/>
          <a:p>
            <a:pPr algn="l" marL="274320" indent="-274320">
              <a:lnSpc>
                <a:spcPct val="105000"/>
              </a:lnSpc>
              <a:spcAft>
                <a:spcPts val="2000"/>
              </a:spcAft>
              <a:buClr>
                <a:srgbClr val="088192"/>
              </a:buClr>
              <a:buFont typeface="Arial"/>
              <a:buChar char="•"/>
            </a:pPr>
            <a:r>
              <a:rPr sz="2000" b="0" i="0">
                <a:solidFill>
                  <a:srgbClr val="051218"/>
                </a:solidFill>
                <a:latin typeface="Calibri"/>
              </a:rPr>
              <a:t>News outlets lean left or right, and readers often cannot tell</a:t>
            </a:r>
          </a:p>
          <a:p>
            <a:pPr algn="l" marL="274320" indent="-274320">
              <a:lnSpc>
                <a:spcPct val="105000"/>
              </a:lnSpc>
              <a:spcAft>
                <a:spcPts val="2000"/>
              </a:spcAft>
              <a:buClr>
                <a:srgbClr val="088192"/>
              </a:buClr>
              <a:buFont typeface="Arial"/>
              <a:buChar char="•"/>
            </a:pPr>
            <a:r>
              <a:rPr sz="2000" b="0" i="0">
                <a:solidFill>
                  <a:srgbClr val="051218"/>
                </a:solidFill>
                <a:latin typeface="Calibri"/>
              </a:rPr>
              <a:t>Labelling articles by hand is slow, so labelled news is rare</a:t>
            </a:r>
          </a:p>
          <a:p>
            <a:pPr algn="l" marL="274320" indent="-274320">
              <a:lnSpc>
                <a:spcPct val="105000"/>
              </a:lnSpc>
              <a:spcAft>
                <a:spcPts val="2000"/>
              </a:spcAft>
              <a:buClr>
                <a:srgbClr val="088192"/>
              </a:buClr>
              <a:buFont typeface="Arial"/>
              <a:buChar char="•"/>
            </a:pPr>
            <a:r>
              <a:rPr sz="2000" b="0" i="0">
                <a:solidFill>
                  <a:srgbClr val="051218"/>
                </a:solidFill>
                <a:latin typeface="Calibri"/>
              </a:rPr>
              <a:t>Politicians' tweets come with a free label: the author's party</a:t>
            </a:r>
          </a:p>
          <a:p>
            <a:pPr algn="l" marL="274320" indent="-274320">
              <a:lnSpc>
                <a:spcPct val="105000"/>
              </a:lnSpc>
              <a:spcAft>
                <a:spcPts val="2000"/>
              </a:spcAft>
              <a:buClr>
                <a:srgbClr val="088192"/>
              </a:buClr>
              <a:buFont typeface="Arial"/>
              <a:buChar char="•"/>
            </a:pPr>
            <a:r>
              <a:rPr sz="2000" b="0" i="0">
                <a:solidFill>
                  <a:srgbClr val="051218"/>
                </a:solidFill>
                <a:latin typeface="Calibri"/>
              </a:rPr>
              <a:t>So we learn party language from tweets, then read the news</a:t>
            </a:r>
          </a:p>
        </p:txBody>
      </p:sp>
      <p:sp>
        <p:nvSpPr>
          <p:cNvPr id="4" name="Panel"/>
          <p:cNvSpPr/>
          <p:nvPr/>
        </p:nvSpPr>
        <p:spPr>
          <a:xfrm>
            <a:off x="7680960" y="1417320"/>
            <a:ext cx="3962095" cy="4617720"/>
          </a:xfrm>
          <a:prstGeom prst="roundRect">
            <a:avLst>
              <a:gd name="adj" fmla="val 6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nel text"/>
          <p:cNvSpPr txBox="1"/>
          <p:nvPr/>
        </p:nvSpPr>
        <p:spPr>
          <a:xfrm>
            <a:off x="8092440" y="1828800"/>
            <a:ext cx="3139135" cy="3794760"/>
          </a:xfrm>
          <a:prstGeom prst="rect">
            <a:avLst/>
          </a:prstGeom>
          <a:noFill/>
        </p:spPr>
        <p:txBody>
          <a:bodyPr wrap="square" lIns="0" rIns="0" tIns="0" bIns="0" anchor="ctr">
            <a:spAutoFit/>
          </a:bodyPr>
          <a:lstStyle/>
          <a:p>
            <a:pPr algn="l">
              <a:spcAft>
                <a:spcPts val="1200"/>
              </a:spcAft>
            </a:pPr>
            <a:r>
              <a:rPr sz="1300" b="1" i="0" spc="300">
                <a:solidFill>
                  <a:srgbClr val="BCAC79"/>
                </a:solidFill>
                <a:latin typeface="Calibri"/>
              </a:rPr>
              <a:t>OUR QUESTION</a:t>
            </a:r>
          </a:p>
          <a:p>
            <a:pPr algn="l">
              <a:spcAft>
                <a:spcPts val="0"/>
              </a:spcAft>
            </a:pPr>
            <a:r>
              <a:rPr sz="2400" b="0" i="0">
                <a:solidFill>
                  <a:srgbClr val="F2EFE6"/>
                </a:solidFill>
                <a:latin typeface="Georgia"/>
              </a:rPr>
              <a:t>Can a model trained on tweets tell if an article leans Democratic or Republican?</a:t>
            </a:r>
          </a:p>
        </p:txBody>
      </p:sp>
      <p:sp>
        <p:nvSpPr>
          <p:cNvPr id="6"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INTRODUCTION</a:t>
            </a:r>
          </a:p>
        </p:txBody>
      </p:sp>
      <p:sp>
        <p:nvSpPr>
          <p:cNvPr id="8"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THE</a:t>
            </a:r>
            <a:r>
              <a:rPr sz="2600" b="0" i="0" spc="400">
                <a:solidFill>
                  <a:srgbClr val="051218"/>
                </a:solidFill>
                <a:latin typeface="Georgia"/>
              </a:rPr>
              <a:t> REFERENCE PAPER</a:t>
            </a:r>
          </a:p>
        </p:txBody>
      </p:sp>
      <p:sp>
        <p:nvSpPr>
          <p:cNvPr id="3" name="Number 1 block"/>
          <p:cNvSpPr/>
          <p:nvPr/>
        </p:nvSpPr>
        <p:spPr>
          <a:xfrm>
            <a:off x="548640" y="1325880"/>
            <a:ext cx="3657600" cy="18288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1 text"/>
          <p:cNvSpPr txBox="1"/>
          <p:nvPr/>
        </p:nvSpPr>
        <p:spPr>
          <a:xfrm>
            <a:off x="777240" y="1508760"/>
            <a:ext cx="3200400" cy="1463040"/>
          </a:xfrm>
          <a:prstGeom prst="rect">
            <a:avLst/>
          </a:prstGeom>
          <a:noFill/>
        </p:spPr>
        <p:txBody>
          <a:bodyPr wrap="square" lIns="0" rIns="0" tIns="0" bIns="0" anchor="ctr">
            <a:spAutoFit/>
          </a:bodyPr>
          <a:lstStyle/>
          <a:p>
            <a:pPr algn="l">
              <a:spcAft>
                <a:spcPts val="400"/>
              </a:spcAft>
            </a:pPr>
            <a:r>
              <a:rPr sz="4000" b="1" i="0">
                <a:solidFill>
                  <a:srgbClr val="BCAC79"/>
                </a:solidFill>
                <a:latin typeface="Calibri"/>
              </a:rPr>
              <a:t>86.7%</a:t>
            </a:r>
          </a:p>
          <a:p>
            <a:pPr algn="l">
              <a:spcAft>
                <a:spcPts val="0"/>
              </a:spcAft>
            </a:pPr>
            <a:r>
              <a:rPr sz="1400" b="0" i="0">
                <a:solidFill>
                  <a:srgbClr val="F2EFE6"/>
                </a:solidFill>
                <a:latin typeface="Calibri"/>
              </a:rPr>
              <a:t>Paper: Naive Bayes on held-out tweets</a:t>
            </a:r>
          </a:p>
        </p:txBody>
      </p:sp>
      <p:sp>
        <p:nvSpPr>
          <p:cNvPr id="5" name="Number 2 block"/>
          <p:cNvSpPr/>
          <p:nvPr/>
        </p:nvSpPr>
        <p:spPr>
          <a:xfrm>
            <a:off x="548640" y="3429000"/>
            <a:ext cx="3657600" cy="18288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2 text"/>
          <p:cNvSpPr txBox="1"/>
          <p:nvPr/>
        </p:nvSpPr>
        <p:spPr>
          <a:xfrm>
            <a:off x="777240" y="3611880"/>
            <a:ext cx="3200400" cy="1463040"/>
          </a:xfrm>
          <a:prstGeom prst="rect">
            <a:avLst/>
          </a:prstGeom>
          <a:noFill/>
        </p:spPr>
        <p:txBody>
          <a:bodyPr wrap="square" lIns="0" rIns="0" tIns="0" bIns="0" anchor="ctr">
            <a:spAutoFit/>
          </a:bodyPr>
          <a:lstStyle/>
          <a:p>
            <a:pPr algn="l">
              <a:spcAft>
                <a:spcPts val="400"/>
              </a:spcAft>
            </a:pPr>
            <a:r>
              <a:rPr sz="4000" b="1" i="0">
                <a:solidFill>
                  <a:srgbClr val="BCAC79"/>
                </a:solidFill>
                <a:latin typeface="Calibri"/>
              </a:rPr>
              <a:t>63%</a:t>
            </a:r>
          </a:p>
          <a:p>
            <a:pPr algn="l">
              <a:spcAft>
                <a:spcPts val="0"/>
              </a:spcAft>
            </a:pPr>
            <a:r>
              <a:rPr sz="1400" b="0" i="0">
                <a:solidFill>
                  <a:srgbClr val="F2EFE6"/>
                </a:solidFill>
                <a:latin typeface="Calibri"/>
              </a:rPr>
              <a:t>Paper: SVM on 100 news articles</a:t>
            </a:r>
          </a:p>
        </p:txBody>
      </p:sp>
      <p:sp>
        <p:nvSpPr>
          <p:cNvPr id="7" name="Heading"/>
          <p:cNvSpPr txBox="1"/>
          <p:nvPr/>
        </p:nvSpPr>
        <p:spPr>
          <a:xfrm>
            <a:off x="4846320" y="1325880"/>
            <a:ext cx="6796735" cy="365760"/>
          </a:xfrm>
          <a:prstGeom prst="rect">
            <a:avLst/>
          </a:prstGeom>
          <a:noFill/>
        </p:spPr>
        <p:txBody>
          <a:bodyPr wrap="square" lIns="0" rIns="0" tIns="0" bIns="0" anchor="t">
            <a:spAutoFit/>
          </a:bodyPr>
          <a:lstStyle/>
          <a:p>
            <a:pPr algn="l">
              <a:spcAft>
                <a:spcPts val="0"/>
              </a:spcAft>
            </a:pPr>
            <a:r>
              <a:rPr sz="1400" b="1" i="0" spc="300">
                <a:solidFill>
                  <a:srgbClr val="053944"/>
                </a:solidFill>
                <a:latin typeface="Calibri"/>
              </a:rPr>
              <a:t>OUR GOALS</a:t>
            </a:r>
          </a:p>
        </p:txBody>
      </p:sp>
      <p:sp>
        <p:nvSpPr>
          <p:cNvPr id="8" name="Bullets"/>
          <p:cNvSpPr txBox="1"/>
          <p:nvPr/>
        </p:nvSpPr>
        <p:spPr>
          <a:xfrm>
            <a:off x="4846320" y="1874519"/>
            <a:ext cx="6796735" cy="4160520"/>
          </a:xfrm>
          <a:prstGeom prst="rect">
            <a:avLst/>
          </a:prstGeom>
          <a:noFill/>
        </p:spPr>
        <p:txBody>
          <a:bodyPr wrap="square" lIns="0" rIns="0" tIns="0" bIns="0" anchor="t">
            <a:spAutoFit/>
          </a:bodyPr>
          <a:lstStyle/>
          <a:p>
            <a:pPr algn="l" marL="274320" indent="-274320">
              <a:lnSpc>
                <a:spcPct val="105000"/>
              </a:lnSpc>
              <a:spcAft>
                <a:spcPts val="1400"/>
              </a:spcAft>
              <a:buClr>
                <a:srgbClr val="088192"/>
              </a:buClr>
              <a:buFont typeface="Arial"/>
              <a:buChar char="•"/>
            </a:pPr>
            <a:r>
              <a:rPr sz="1900" b="0" i="0">
                <a:solidFill>
                  <a:srgbClr val="051218"/>
                </a:solidFill>
                <a:latin typeface="Calibri"/>
              </a:rPr>
              <a:t>Rebuild their three models: two Naive Bayes and a linear SVM</a:t>
            </a:r>
          </a:p>
          <a:p>
            <a:pPr algn="l" marL="274320" indent="-274320">
              <a:lnSpc>
                <a:spcPct val="105000"/>
              </a:lnSpc>
              <a:spcAft>
                <a:spcPts val="1400"/>
              </a:spcAft>
              <a:buClr>
                <a:srgbClr val="088192"/>
              </a:buClr>
              <a:buFont typeface="Arial"/>
              <a:buChar char="•"/>
            </a:pPr>
            <a:r>
              <a:rPr sz="1900" b="0" i="0">
                <a:solidFill>
                  <a:srgbClr val="051218"/>
                </a:solidFill>
                <a:latin typeface="Calibri"/>
              </a:rPr>
              <a:t>Test fairly: each politician's tweets stay on one side of the split</a:t>
            </a:r>
          </a:p>
          <a:p>
            <a:pPr algn="l" marL="274320" indent="-274320">
              <a:lnSpc>
                <a:spcPct val="105000"/>
              </a:lnSpc>
              <a:spcAft>
                <a:spcPts val="1400"/>
              </a:spcAft>
              <a:buClr>
                <a:srgbClr val="088192"/>
              </a:buClr>
              <a:buFont typeface="Arial"/>
              <a:buChar char="•"/>
            </a:pPr>
            <a:r>
              <a:rPr sz="1900" b="0" i="0">
                <a:solidFill>
                  <a:srgbClr val="051218"/>
                </a:solidFill>
                <a:latin typeface="Calibri"/>
              </a:rPr>
              <a:t>Choose settings without looking at the test set</a:t>
            </a:r>
          </a:p>
          <a:p>
            <a:pPr algn="l" marL="274320" indent="-274320">
              <a:lnSpc>
                <a:spcPct val="105000"/>
              </a:lnSpc>
              <a:spcAft>
                <a:spcPts val="1400"/>
              </a:spcAft>
              <a:buClr>
                <a:srgbClr val="088192"/>
              </a:buClr>
              <a:buFont typeface="Arial"/>
              <a:buChar char="•"/>
            </a:pPr>
            <a:r>
              <a:rPr sz="1900" b="0" i="0">
                <a:solidFill>
                  <a:srgbClr val="051218"/>
                </a:solidFill>
                <a:latin typeface="Calibri"/>
              </a:rPr>
              <a:t>Test on 1,001 public news articles, not 100 private ones</a:t>
            </a:r>
          </a:p>
        </p:txBody>
      </p:sp>
      <p:sp>
        <p:nvSpPr>
          <p:cNvPr id="9" name="Caption"/>
          <p:cNvSpPr txBox="1"/>
          <p:nvPr/>
        </p:nvSpPr>
        <p:spPr>
          <a:xfrm>
            <a:off x="4846320" y="5715000"/>
            <a:ext cx="6796735" cy="320040"/>
          </a:xfrm>
          <a:prstGeom prst="rect">
            <a:avLst/>
          </a:prstGeom>
          <a:noFill/>
        </p:spPr>
        <p:txBody>
          <a:bodyPr wrap="square" lIns="0" rIns="0" tIns="0" bIns="0" anchor="b">
            <a:spAutoFit/>
          </a:bodyPr>
          <a:lstStyle/>
          <a:p>
            <a:pPr algn="l">
              <a:spcAft>
                <a:spcPts val="0"/>
              </a:spcAft>
            </a:pPr>
            <a:r>
              <a:rPr sz="1200" b="0" i="1">
                <a:solidFill>
                  <a:srgbClr val="5B6B70"/>
                </a:solidFill>
                <a:latin typeface="Calibri"/>
              </a:rPr>
              <a:t>Crain and Erhan, Categorizing News Articles on Political Bias, Stanford CS229, 2021</a:t>
            </a:r>
          </a:p>
        </p:txBody>
      </p:sp>
      <p:sp>
        <p:nvSpPr>
          <p:cNvPr id="10"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BACKGROUND</a:t>
            </a:r>
          </a:p>
        </p:txBody>
      </p:sp>
      <p:sp>
        <p:nvSpPr>
          <p:cNvPr id="12"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THE</a:t>
            </a:r>
            <a:r>
              <a:rPr sz="2600" b="0" i="0" spc="400">
                <a:solidFill>
                  <a:srgbClr val="051218"/>
                </a:solidFill>
                <a:latin typeface="Georgia"/>
              </a:rPr>
              <a:t> DATA</a:t>
            </a:r>
          </a:p>
        </p:txBody>
      </p:sp>
      <p:sp>
        <p:nvSpPr>
          <p:cNvPr id="3" name="Number 1 block"/>
          <p:cNvSpPr/>
          <p:nvPr/>
        </p:nvSpPr>
        <p:spPr>
          <a:xfrm>
            <a:off x="548640" y="1325880"/>
            <a:ext cx="2567863"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1 text"/>
          <p:cNvSpPr txBox="1"/>
          <p:nvPr/>
        </p:nvSpPr>
        <p:spPr>
          <a:xfrm>
            <a:off x="777240" y="1508760"/>
            <a:ext cx="2110663"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121,976</a:t>
            </a:r>
          </a:p>
          <a:p>
            <a:pPr algn="l">
              <a:spcAft>
                <a:spcPts val="0"/>
              </a:spcAft>
            </a:pPr>
            <a:r>
              <a:rPr sz="1400" b="0" i="0">
                <a:solidFill>
                  <a:srgbClr val="F2EFE6"/>
                </a:solidFill>
                <a:latin typeface="Calibri"/>
              </a:rPr>
              <a:t>tweets</a:t>
            </a:r>
          </a:p>
        </p:txBody>
      </p:sp>
      <p:sp>
        <p:nvSpPr>
          <p:cNvPr id="5" name="Number 2 block"/>
          <p:cNvSpPr/>
          <p:nvPr/>
        </p:nvSpPr>
        <p:spPr>
          <a:xfrm>
            <a:off x="3390823" y="1325880"/>
            <a:ext cx="2567863"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2 text"/>
          <p:cNvSpPr txBox="1"/>
          <p:nvPr/>
        </p:nvSpPr>
        <p:spPr>
          <a:xfrm>
            <a:off x="3619423" y="1508760"/>
            <a:ext cx="2110663"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450</a:t>
            </a:r>
          </a:p>
          <a:p>
            <a:pPr algn="l">
              <a:spcAft>
                <a:spcPts val="0"/>
              </a:spcAft>
            </a:pPr>
            <a:r>
              <a:rPr sz="1400" b="0" i="0">
                <a:solidFill>
                  <a:srgbClr val="F2EFE6"/>
                </a:solidFill>
                <a:latin typeface="Calibri"/>
              </a:rPr>
              <a:t>House members</a:t>
            </a:r>
          </a:p>
        </p:txBody>
      </p:sp>
      <p:sp>
        <p:nvSpPr>
          <p:cNvPr id="7" name="Number 3 block"/>
          <p:cNvSpPr/>
          <p:nvPr/>
        </p:nvSpPr>
        <p:spPr>
          <a:xfrm>
            <a:off x="6233007" y="1325880"/>
            <a:ext cx="2567863"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3 text"/>
          <p:cNvSpPr txBox="1"/>
          <p:nvPr/>
        </p:nvSpPr>
        <p:spPr>
          <a:xfrm>
            <a:off x="6461607" y="1508760"/>
            <a:ext cx="2110663"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64%</a:t>
            </a:r>
          </a:p>
          <a:p>
            <a:pPr algn="l">
              <a:spcAft>
                <a:spcPts val="0"/>
              </a:spcAft>
            </a:pPr>
            <a:r>
              <a:rPr sz="1400" b="0" i="0">
                <a:solidFill>
                  <a:srgbClr val="F2EFE6"/>
                </a:solidFill>
                <a:latin typeface="Calibri"/>
              </a:rPr>
              <a:t>of tweets are by Democrats</a:t>
            </a:r>
          </a:p>
        </p:txBody>
      </p:sp>
      <p:sp>
        <p:nvSpPr>
          <p:cNvPr id="9" name="Number 4 block"/>
          <p:cNvSpPr/>
          <p:nvPr/>
        </p:nvSpPr>
        <p:spPr>
          <a:xfrm>
            <a:off x="9075191" y="1325880"/>
            <a:ext cx="2567863"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umber 4 text"/>
          <p:cNvSpPr txBox="1"/>
          <p:nvPr/>
        </p:nvSpPr>
        <p:spPr>
          <a:xfrm>
            <a:off x="9303791" y="1508760"/>
            <a:ext cx="2110663"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1,001</a:t>
            </a:r>
          </a:p>
          <a:p>
            <a:pPr algn="l">
              <a:spcAft>
                <a:spcPts val="0"/>
              </a:spcAft>
            </a:pPr>
            <a:r>
              <a:rPr sz="1400" b="0" i="0">
                <a:solidFill>
                  <a:srgbClr val="F2EFE6"/>
                </a:solidFill>
                <a:latin typeface="Calibri"/>
              </a:rPr>
              <a:t>news articles to test on</a:t>
            </a:r>
          </a:p>
        </p:txBody>
      </p:sp>
      <p:sp>
        <p:nvSpPr>
          <p:cNvPr id="11" name="Bullets"/>
          <p:cNvSpPr txBox="1"/>
          <p:nvPr/>
        </p:nvSpPr>
        <p:spPr>
          <a:xfrm>
            <a:off x="548640" y="3337560"/>
            <a:ext cx="11094415" cy="2697480"/>
          </a:xfrm>
          <a:prstGeom prst="rect">
            <a:avLst/>
          </a:prstGeom>
          <a:noFill/>
        </p:spPr>
        <p:txBody>
          <a:bodyPr wrap="square" lIns="0" rIns="0" tIns="0" bIns="0" anchor="t">
            <a:spAutoFit/>
          </a:bodyPr>
          <a:lstStyle/>
          <a:p>
            <a:pPr algn="l" marL="274320" indent="-274320">
              <a:lnSpc>
                <a:spcPct val="105000"/>
              </a:lnSpc>
              <a:spcAft>
                <a:spcPts val="1400"/>
              </a:spcAft>
              <a:buClr>
                <a:srgbClr val="088192"/>
              </a:buClr>
              <a:buFont typeface="Arial"/>
              <a:buChar char="•"/>
            </a:pPr>
            <a:r>
              <a:rPr sz="1800" b="0" i="0">
                <a:solidFill>
                  <a:srgbClr val="051218"/>
                </a:solidFill>
                <a:latin typeface="Calibri"/>
              </a:rPr>
              <a:t>Tweets: public congresstweets archive, 3 January to 1 April 2021, same as the paper</a:t>
            </a:r>
          </a:p>
          <a:p>
            <a:pPr algn="l" marL="274320" indent="-274320">
              <a:lnSpc>
                <a:spcPct val="105000"/>
              </a:lnSpc>
              <a:spcAft>
                <a:spcPts val="1400"/>
              </a:spcAft>
              <a:buClr>
                <a:srgbClr val="088192"/>
              </a:buClr>
              <a:buFont typeface="Arial"/>
              <a:buChar char="•"/>
            </a:pPr>
            <a:r>
              <a:rPr sz="1800" b="0" i="0">
                <a:solidFill>
                  <a:srgbClr val="051218"/>
                </a:solidFill>
                <a:latin typeface="Calibri"/>
              </a:rPr>
              <a:t>Each tweet is labelled with its author's party, D or R</a:t>
            </a:r>
          </a:p>
          <a:p>
            <a:pPr algn="l" marL="274320" indent="-274320">
              <a:lnSpc>
                <a:spcPct val="105000"/>
              </a:lnSpc>
              <a:spcAft>
                <a:spcPts val="1400"/>
              </a:spcAft>
              <a:buClr>
                <a:srgbClr val="088192"/>
              </a:buClr>
              <a:buFont typeface="Arial"/>
              <a:buChar char="•"/>
            </a:pPr>
            <a:r>
              <a:rPr sz="1800" b="0" i="0">
                <a:solidFill>
                  <a:srgbClr val="051218"/>
                </a:solidFill>
                <a:latin typeface="Calibri"/>
              </a:rPr>
              <a:t>News: 402 left and 599 right AllSides articles (Baly et al., 2020)</a:t>
            </a:r>
          </a:p>
          <a:p>
            <a:pPr algn="l" marL="274320" indent="-274320">
              <a:lnSpc>
                <a:spcPct val="105000"/>
              </a:lnSpc>
              <a:spcAft>
                <a:spcPts val="1400"/>
              </a:spcAft>
              <a:buClr>
                <a:srgbClr val="088192"/>
              </a:buClr>
              <a:buFont typeface="Arial"/>
              <a:buChar char="•"/>
            </a:pPr>
            <a:r>
              <a:rPr sz="1800" b="0" i="0">
                <a:solidFill>
                  <a:srgbClr val="051218"/>
                </a:solidFill>
                <a:latin typeface="Calibri"/>
              </a:rPr>
              <a:t>Since 64% of tweets are D, always guessing D already scores about 61 to 64%</a:t>
            </a:r>
          </a:p>
        </p:txBody>
      </p:sp>
      <p:sp>
        <p:nvSpPr>
          <p:cNvPr id="12"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DATA</a:t>
            </a:r>
          </a:p>
        </p:txBody>
      </p:sp>
      <p:sp>
        <p:nvSpPr>
          <p:cNvPr id="14"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HOW</a:t>
            </a:r>
            <a:r>
              <a:rPr sz="2600" b="0" i="0" spc="400">
                <a:solidFill>
                  <a:srgbClr val="051218"/>
                </a:solidFill>
                <a:latin typeface="Georgia"/>
              </a:rPr>
              <a:t> IT WORKS</a:t>
            </a:r>
          </a:p>
        </p:txBody>
      </p:sp>
      <p:sp>
        <p:nvSpPr>
          <p:cNvPr id="3" name="Step 1 block"/>
          <p:cNvSpPr/>
          <p:nvPr/>
        </p:nvSpPr>
        <p:spPr>
          <a:xfrm>
            <a:off x="548640" y="1943100"/>
            <a:ext cx="2567863" cy="2103120"/>
          </a:xfrm>
          <a:prstGeom prst="roundRect">
            <a:avLst>
              <a:gd name="adj" fmla="val 18000"/>
            </a:avLst>
          </a:prstGeom>
          <a:solidFill>
            <a:srgbClr val="0881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tep 1 label"/>
          <p:cNvSpPr txBox="1"/>
          <p:nvPr/>
        </p:nvSpPr>
        <p:spPr>
          <a:xfrm>
            <a:off x="868680" y="2217420"/>
            <a:ext cx="1927783"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01</a:t>
            </a:r>
          </a:p>
          <a:p>
            <a:pPr algn="l">
              <a:spcAft>
                <a:spcPts val="0"/>
              </a:spcAft>
            </a:pPr>
            <a:r>
              <a:rPr sz="1500" b="1" i="0" spc="200">
                <a:solidFill>
                  <a:srgbClr val="F2EFE6"/>
                </a:solidFill>
                <a:latin typeface="Calibri"/>
              </a:rPr>
              <a:t>COLLECT</a:t>
            </a:r>
          </a:p>
        </p:txBody>
      </p:sp>
      <p:sp>
        <p:nvSpPr>
          <p:cNvPr id="5" name="Step 1 text"/>
          <p:cNvSpPr txBox="1"/>
          <p:nvPr/>
        </p:nvSpPr>
        <p:spPr>
          <a:xfrm>
            <a:off x="594360" y="4320540"/>
            <a:ext cx="2476423"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Download the tweets and match each author to a party</a:t>
            </a:r>
          </a:p>
        </p:txBody>
      </p:sp>
      <p:sp>
        <p:nvSpPr>
          <p:cNvPr id="6" name="Step 2 block"/>
          <p:cNvSpPr/>
          <p:nvPr/>
        </p:nvSpPr>
        <p:spPr>
          <a:xfrm>
            <a:off x="3390823" y="1943100"/>
            <a:ext cx="2567863" cy="2103120"/>
          </a:xfrm>
          <a:prstGeom prst="roundRect">
            <a:avLst>
              <a:gd name="adj" fmla="val 18000"/>
            </a:avLst>
          </a:prstGeom>
          <a:solidFill>
            <a:srgbClr val="0A5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ep 2 label"/>
          <p:cNvSpPr txBox="1"/>
          <p:nvPr/>
        </p:nvSpPr>
        <p:spPr>
          <a:xfrm>
            <a:off x="3710863" y="2217420"/>
            <a:ext cx="1927783"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02</a:t>
            </a:r>
          </a:p>
          <a:p>
            <a:pPr algn="l">
              <a:spcAft>
                <a:spcPts val="0"/>
              </a:spcAft>
            </a:pPr>
            <a:r>
              <a:rPr sz="1500" b="1" i="0" spc="200">
                <a:solidFill>
                  <a:srgbClr val="F2EFE6"/>
                </a:solidFill>
                <a:latin typeface="Calibri"/>
              </a:rPr>
              <a:t>CLEAN</a:t>
            </a:r>
          </a:p>
        </p:txBody>
      </p:sp>
      <p:sp>
        <p:nvSpPr>
          <p:cNvPr id="8" name="Step 2 text"/>
          <p:cNvSpPr txBox="1"/>
          <p:nvPr/>
        </p:nvSpPr>
        <p:spPr>
          <a:xfrm>
            <a:off x="3436543" y="4320540"/>
            <a:ext cx="2476423"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Make three versions: all words, no punctuation, no # or @</a:t>
            </a:r>
          </a:p>
        </p:txBody>
      </p:sp>
      <p:sp>
        <p:nvSpPr>
          <p:cNvPr id="9" name="Step 3 block"/>
          <p:cNvSpPr/>
          <p:nvPr/>
        </p:nvSpPr>
        <p:spPr>
          <a:xfrm>
            <a:off x="6233007" y="1943100"/>
            <a:ext cx="2567863" cy="2103120"/>
          </a:xfrm>
          <a:prstGeom prst="roundRect">
            <a:avLst>
              <a:gd name="adj" fmla="val 18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3 label"/>
          <p:cNvSpPr txBox="1"/>
          <p:nvPr/>
        </p:nvSpPr>
        <p:spPr>
          <a:xfrm>
            <a:off x="6553047" y="2217420"/>
            <a:ext cx="1927783"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03</a:t>
            </a:r>
          </a:p>
          <a:p>
            <a:pPr algn="l">
              <a:spcAft>
                <a:spcPts val="0"/>
              </a:spcAft>
            </a:pPr>
            <a:r>
              <a:rPr sz="1500" b="1" i="0" spc="200">
                <a:solidFill>
                  <a:srgbClr val="F2EFE6"/>
                </a:solidFill>
                <a:latin typeface="Calibri"/>
              </a:rPr>
              <a:t>COUNT</a:t>
            </a:r>
          </a:p>
        </p:txBody>
      </p:sp>
      <p:sp>
        <p:nvSpPr>
          <p:cNvPr id="11" name="Step 3 text"/>
          <p:cNvSpPr txBox="1"/>
          <p:nvPr/>
        </p:nvSpPr>
        <p:spPr>
          <a:xfrm>
            <a:off x="6278727" y="4320540"/>
            <a:ext cx="2476423"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Turn each tweet into word counts, or yes/no flags per word</a:t>
            </a:r>
          </a:p>
        </p:txBody>
      </p:sp>
      <p:sp>
        <p:nvSpPr>
          <p:cNvPr id="12" name="Step 4 block"/>
          <p:cNvSpPr/>
          <p:nvPr/>
        </p:nvSpPr>
        <p:spPr>
          <a:xfrm>
            <a:off x="9075191" y="1943100"/>
            <a:ext cx="2567863" cy="2103120"/>
          </a:xfrm>
          <a:prstGeom prst="roundRect">
            <a:avLst>
              <a:gd name="adj" fmla="val 18000"/>
            </a:avLst>
          </a:prstGeom>
          <a:solidFill>
            <a:srgbClr val="05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ep 4 label"/>
          <p:cNvSpPr txBox="1"/>
          <p:nvPr/>
        </p:nvSpPr>
        <p:spPr>
          <a:xfrm>
            <a:off x="9395231" y="2217420"/>
            <a:ext cx="1927783"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04</a:t>
            </a:r>
          </a:p>
          <a:p>
            <a:pPr algn="l">
              <a:spcAft>
                <a:spcPts val="0"/>
              </a:spcAft>
            </a:pPr>
            <a:r>
              <a:rPr sz="1500" b="1" i="0" spc="200">
                <a:solidFill>
                  <a:srgbClr val="F2EFE6"/>
                </a:solidFill>
                <a:latin typeface="Calibri"/>
              </a:rPr>
              <a:t>LEARN AND TEST</a:t>
            </a:r>
          </a:p>
        </p:txBody>
      </p:sp>
      <p:sp>
        <p:nvSpPr>
          <p:cNvPr id="14" name="Step 4 text"/>
          <p:cNvSpPr txBox="1"/>
          <p:nvPr/>
        </p:nvSpPr>
        <p:spPr>
          <a:xfrm>
            <a:off x="9120911" y="4320540"/>
            <a:ext cx="2476423"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Train Naive Bayes and an SVM, then score them on unseen data</a:t>
            </a:r>
          </a:p>
        </p:txBody>
      </p:sp>
      <p:sp>
        <p:nvSpPr>
          <p:cNvPr id="15"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METHOD</a:t>
            </a:r>
          </a:p>
        </p:txBody>
      </p:sp>
      <p:sp>
        <p:nvSpPr>
          <p:cNvPr id="17"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TESTING</a:t>
            </a:r>
            <a:r>
              <a:rPr sz="2600" b="0" i="0" spc="400">
                <a:solidFill>
                  <a:srgbClr val="051218"/>
                </a:solidFill>
                <a:latin typeface="Georgia"/>
              </a:rPr>
              <a:t> FAIRLY</a:t>
            </a:r>
          </a:p>
        </p:txBody>
      </p:sp>
      <p:sp>
        <p:nvSpPr>
          <p:cNvPr id="3" name="Card 1"/>
          <p:cNvSpPr/>
          <p:nvPr/>
        </p:nvSpPr>
        <p:spPr>
          <a:xfrm>
            <a:off x="548640" y="1325880"/>
            <a:ext cx="5318607" cy="3474720"/>
          </a:xfrm>
          <a:prstGeom prst="roundRect">
            <a:avLst>
              <a:gd name="adj" fmla="val 6000"/>
            </a:avLst>
          </a:prstGeom>
          <a:solidFill>
            <a:srgbClr val="E4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1 text"/>
          <p:cNvSpPr txBox="1"/>
          <p:nvPr/>
        </p:nvSpPr>
        <p:spPr>
          <a:xfrm>
            <a:off x="960120" y="1691640"/>
            <a:ext cx="4495647" cy="2743200"/>
          </a:xfrm>
          <a:prstGeom prst="rect">
            <a:avLst/>
          </a:prstGeom>
          <a:noFill/>
        </p:spPr>
        <p:txBody>
          <a:bodyPr wrap="square" lIns="0" rIns="0" tIns="0" bIns="0" anchor="t">
            <a:spAutoFit/>
          </a:bodyPr>
          <a:lstStyle/>
          <a:p>
            <a:pPr algn="l">
              <a:spcAft>
                <a:spcPts val="1400"/>
              </a:spcAft>
            </a:pPr>
            <a:r>
              <a:rPr sz="1400" b="1" i="0" spc="300">
                <a:solidFill>
                  <a:srgbClr val="051218"/>
                </a:solidFill>
                <a:latin typeface="Calibri"/>
              </a:rPr>
              <a:t>RANDOM SPLIT (PAPER)</a:t>
            </a:r>
          </a:p>
          <a:p>
            <a:pPr algn="l">
              <a:spcAft>
                <a:spcPts val="0"/>
              </a:spcAft>
            </a:pPr>
            <a:r>
              <a:rPr sz="5400" b="1" i="0">
                <a:solidFill>
                  <a:srgbClr val="9C8A4F"/>
                </a:solidFill>
                <a:latin typeface="Calibri"/>
              </a:rPr>
              <a:t>441 of 442</a:t>
            </a:r>
          </a:p>
          <a:p>
            <a:pPr algn="l">
              <a:spcAft>
                <a:spcPts val="1600"/>
              </a:spcAft>
            </a:pPr>
            <a:r>
              <a:rPr sz="1500" b="0" i="0">
                <a:solidFill>
                  <a:srgbClr val="5B6B70"/>
                </a:solidFill>
                <a:latin typeface="Calibri"/>
              </a:rPr>
              <a:t>test members also appear in training</a:t>
            </a:r>
          </a:p>
          <a:p>
            <a:pPr algn="l">
              <a:spcAft>
                <a:spcPts val="0"/>
              </a:spcAft>
            </a:pPr>
            <a:r>
              <a:rPr sz="1800" b="0" i="0">
                <a:solidFill>
                  <a:srgbClr val="051218"/>
                </a:solidFill>
                <a:latin typeface="Calibri"/>
              </a:rPr>
              <a:t>The model can memorise names, handles and pet phrases</a:t>
            </a:r>
          </a:p>
        </p:txBody>
      </p:sp>
      <p:sp>
        <p:nvSpPr>
          <p:cNvPr id="5" name="Card 2"/>
          <p:cNvSpPr/>
          <p:nvPr/>
        </p:nvSpPr>
        <p:spPr>
          <a:xfrm>
            <a:off x="6324447" y="1325880"/>
            <a:ext cx="5318607" cy="3474720"/>
          </a:xfrm>
          <a:prstGeom prst="roundRect">
            <a:avLst>
              <a:gd name="adj" fmla="val 6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2 text"/>
          <p:cNvSpPr txBox="1"/>
          <p:nvPr/>
        </p:nvSpPr>
        <p:spPr>
          <a:xfrm>
            <a:off x="6735927" y="1691640"/>
            <a:ext cx="4495647" cy="2743200"/>
          </a:xfrm>
          <a:prstGeom prst="rect">
            <a:avLst/>
          </a:prstGeom>
          <a:noFill/>
        </p:spPr>
        <p:txBody>
          <a:bodyPr wrap="square" lIns="0" rIns="0" tIns="0" bIns="0" anchor="t">
            <a:spAutoFit/>
          </a:bodyPr>
          <a:lstStyle/>
          <a:p>
            <a:pPr algn="l">
              <a:spcAft>
                <a:spcPts val="1400"/>
              </a:spcAft>
            </a:pPr>
            <a:r>
              <a:rPr sz="1400" b="1" i="0" spc="300">
                <a:solidFill>
                  <a:srgbClr val="F2EFE6"/>
                </a:solidFill>
                <a:latin typeface="Calibri"/>
              </a:rPr>
              <a:t>GROUPED SPLIT (OURS)</a:t>
            </a:r>
          </a:p>
          <a:p>
            <a:pPr algn="l">
              <a:spcAft>
                <a:spcPts val="0"/>
              </a:spcAft>
            </a:pPr>
            <a:r>
              <a:rPr sz="5400" b="1" i="0">
                <a:solidFill>
                  <a:srgbClr val="BCAC79"/>
                </a:solidFill>
                <a:latin typeface="Calibri"/>
              </a:rPr>
              <a:t>0</a:t>
            </a:r>
          </a:p>
          <a:p>
            <a:pPr algn="l">
              <a:spcAft>
                <a:spcPts val="1600"/>
              </a:spcAft>
            </a:pPr>
            <a:r>
              <a:rPr sz="1500" b="0" i="0">
                <a:solidFill>
                  <a:srgbClr val="F2EFE6"/>
                </a:solidFill>
                <a:latin typeface="Calibri"/>
              </a:rPr>
              <a:t>test members appear in training</a:t>
            </a:r>
          </a:p>
          <a:p>
            <a:pPr algn="l">
              <a:spcAft>
                <a:spcPts val="0"/>
              </a:spcAft>
            </a:pPr>
            <a:r>
              <a:rPr sz="1800" b="0" i="0">
                <a:solidFill>
                  <a:srgbClr val="F2EFE6"/>
                </a:solidFill>
                <a:latin typeface="Calibri"/>
              </a:rPr>
              <a:t>Learn from 360 members, test on 90 new ones</a:t>
            </a:r>
          </a:p>
        </p:txBody>
      </p:sp>
      <p:sp>
        <p:nvSpPr>
          <p:cNvPr id="7" name="Bullets"/>
          <p:cNvSpPr txBox="1"/>
          <p:nvPr/>
        </p:nvSpPr>
        <p:spPr>
          <a:xfrm>
            <a:off x="548640" y="5257800"/>
            <a:ext cx="11094415" cy="457200"/>
          </a:xfrm>
          <a:prstGeom prst="rect">
            <a:avLst/>
          </a:prstGeom>
          <a:noFill/>
        </p:spPr>
        <p:txBody>
          <a:bodyPr wrap="square" lIns="0" rIns="0" tIns="0" bIns="0" anchor="t">
            <a:spAutoFit/>
          </a:bodyPr>
          <a:lstStyle/>
          <a:p>
            <a:pPr algn="l" marL="274320" indent="-274320">
              <a:lnSpc>
                <a:spcPct val="105000"/>
              </a:lnSpc>
              <a:spcAft>
                <a:spcPts val="1400"/>
              </a:spcAft>
              <a:buClr>
                <a:srgbClr val="088192"/>
              </a:buClr>
              <a:buFont typeface="Arial"/>
              <a:buChar char="•"/>
            </a:pPr>
            <a:r>
              <a:rPr sz="1800" b="0" i="0">
                <a:solidFill>
                  <a:srgbClr val="051218"/>
                </a:solidFill>
                <a:latin typeface="Calibri"/>
              </a:rPr>
              <a:t>Settings chosen by 5-fold grouped cross-validation on training data only</a:t>
            </a:r>
          </a:p>
        </p:txBody>
      </p:sp>
      <p:sp>
        <p:nvSpPr>
          <p:cNvPr id="8"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METHOD</a:t>
            </a:r>
          </a:p>
        </p:txBody>
      </p:sp>
      <p:sp>
        <p:nvSpPr>
          <p:cNvPr id="10"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EXPERIMENT</a:t>
            </a:r>
            <a:r>
              <a:rPr sz="2600" b="0" i="0" spc="400">
                <a:solidFill>
                  <a:srgbClr val="051218"/>
                </a:solidFill>
                <a:latin typeface="Georgia"/>
              </a:rPr>
              <a:t> 1: TWEETS</a:t>
            </a:r>
          </a:p>
        </p:txBody>
      </p:sp>
      <p:pic>
        <p:nvPicPr>
          <p:cNvPr id="3" name="Figure exp1_tweet_test" descr="exp1_tweet_test.png"/>
          <p:cNvPicPr>
            <a:picLocks noChangeAspect="1"/>
          </p:cNvPicPr>
          <p:nvPr/>
        </p:nvPicPr>
        <p:blipFill>
          <a:blip r:embed="rId2"/>
          <a:stretch>
            <a:fillRect/>
          </a:stretch>
        </p:blipFill>
        <p:spPr>
          <a:xfrm>
            <a:off x="1793082" y="1097280"/>
            <a:ext cx="8605530" cy="3703320"/>
          </a:xfrm>
          <a:prstGeom prst="rect">
            <a:avLst/>
          </a:prstGeom>
        </p:spPr>
      </p:pic>
      <p:sp>
        <p:nvSpPr>
          <p:cNvPr id="4" name="Number 1 block"/>
          <p:cNvSpPr/>
          <p:nvPr/>
        </p:nvSpPr>
        <p:spPr>
          <a:xfrm>
            <a:off x="548640" y="5074920"/>
            <a:ext cx="3931920" cy="96012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Number 1 text"/>
          <p:cNvSpPr txBox="1"/>
          <p:nvPr/>
        </p:nvSpPr>
        <p:spPr>
          <a:xfrm>
            <a:off x="777240" y="5257800"/>
            <a:ext cx="3474720" cy="594360"/>
          </a:xfrm>
          <a:prstGeom prst="rect">
            <a:avLst/>
          </a:prstGeom>
          <a:noFill/>
        </p:spPr>
        <p:txBody>
          <a:bodyPr wrap="square" lIns="0" rIns="0" tIns="0" bIns="0" anchor="ctr">
            <a:spAutoFit/>
          </a:bodyPr>
          <a:lstStyle/>
          <a:p>
            <a:pPr algn="l">
              <a:spcAft>
                <a:spcPts val="400"/>
              </a:spcAft>
            </a:pPr>
            <a:r>
              <a:rPr sz="2400" b="1" i="0">
                <a:solidFill>
                  <a:srgbClr val="BCAC79"/>
                </a:solidFill>
                <a:latin typeface="Calibri"/>
              </a:rPr>
              <a:t>5.0 points</a:t>
            </a:r>
          </a:p>
          <a:p>
            <a:pPr algn="l">
              <a:spcAft>
                <a:spcPts val="0"/>
              </a:spcAft>
            </a:pPr>
            <a:r>
              <a:rPr sz="1400" b="0" i="0">
                <a:solidFill>
                  <a:srgbClr val="F2EFE6"/>
                </a:solidFill>
                <a:latin typeface="Calibri"/>
              </a:rPr>
              <a:t>average boost from the random split</a:t>
            </a:r>
          </a:p>
        </p:txBody>
      </p:sp>
      <p:sp>
        <p:nvSpPr>
          <p:cNvPr id="6" name="Bullets"/>
          <p:cNvSpPr txBox="1"/>
          <p:nvPr/>
        </p:nvSpPr>
        <p:spPr>
          <a:xfrm>
            <a:off x="4937759" y="5074920"/>
            <a:ext cx="6705295" cy="960120"/>
          </a:xfrm>
          <a:prstGeom prst="rect">
            <a:avLst/>
          </a:prstGeom>
          <a:noFill/>
        </p:spPr>
        <p:txBody>
          <a:bodyPr wrap="square" lIns="0" rIns="0" tIns="0" bIns="0" anchor="ctr">
            <a:spAutoFit/>
          </a:bodyPr>
          <a:lstStyle/>
          <a:p>
            <a:pPr algn="l" marL="274320" indent="-274320">
              <a:lnSpc>
                <a:spcPct val="105000"/>
              </a:lnSpc>
              <a:spcAft>
                <a:spcPts val="400"/>
              </a:spcAft>
              <a:buClr>
                <a:srgbClr val="088192"/>
              </a:buClr>
              <a:buFont typeface="Arial"/>
              <a:buChar char="•"/>
            </a:pPr>
            <a:r>
              <a:rPr sz="1500" b="0" i="0">
                <a:solidFill>
                  <a:srgbClr val="051218"/>
                </a:solidFill>
                <a:latin typeface="Calibri"/>
              </a:rPr>
              <a:t>Random split: 80 to 86%, close to the paper</a:t>
            </a:r>
          </a:p>
          <a:p>
            <a:pPr algn="l" marL="274320" indent="-274320">
              <a:lnSpc>
                <a:spcPct val="105000"/>
              </a:lnSpc>
              <a:spcAft>
                <a:spcPts val="400"/>
              </a:spcAft>
              <a:buClr>
                <a:srgbClr val="088192"/>
              </a:buClr>
              <a:buFont typeface="Arial"/>
              <a:buChar char="•"/>
            </a:pPr>
            <a:r>
              <a:rPr sz="1500" b="0" i="0">
                <a:solidFill>
                  <a:srgbClr val="051218"/>
                </a:solidFill>
                <a:latin typeface="Calibri"/>
              </a:rPr>
              <a:t>Grouped split: best is 81.2% (SVM)</a:t>
            </a:r>
          </a:p>
          <a:p>
            <a:pPr algn="l" marL="274320" indent="-274320">
              <a:lnSpc>
                <a:spcPct val="105000"/>
              </a:lnSpc>
              <a:spcAft>
                <a:spcPts val="400"/>
              </a:spcAft>
              <a:buClr>
                <a:srgbClr val="088192"/>
              </a:buClr>
              <a:buFont typeface="Arial"/>
              <a:buChar char="•"/>
            </a:pPr>
            <a:r>
              <a:rPr sz="1500" b="0" i="0">
                <a:solidFill>
                  <a:srgbClr val="051218"/>
                </a:solidFill>
                <a:latin typeface="Calibri"/>
              </a:rPr>
              <a:t>Every model beats always guessing D (61.2%)</a:t>
            </a:r>
          </a:p>
        </p:txBody>
      </p:sp>
      <p:sp>
        <p:nvSpPr>
          <p:cNvPr id="7"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RESULTS</a:t>
            </a:r>
          </a:p>
        </p:txBody>
      </p:sp>
      <p:sp>
        <p:nvSpPr>
          <p:cNvPr id="9"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EXPERIMENT</a:t>
            </a:r>
            <a:r>
              <a:rPr sz="2600" b="0" i="0" spc="400">
                <a:solidFill>
                  <a:srgbClr val="051218"/>
                </a:solidFill>
                <a:latin typeface="Georgia"/>
              </a:rPr>
              <a:t> 2: TELLING WORDS</a:t>
            </a:r>
          </a:p>
        </p:txBody>
      </p:sp>
      <p:pic>
        <p:nvPicPr>
          <p:cNvPr id="3" name="Figure exp2_top_words part 1" descr="image.png"/>
          <p:cNvPicPr>
            <a:picLocks noChangeAspect="1"/>
          </p:cNvPicPr>
          <p:nvPr/>
        </p:nvPicPr>
        <p:blipFill>
          <a:blip r:embed="rId2"/>
          <a:stretch>
            <a:fillRect/>
          </a:stretch>
        </p:blipFill>
        <p:spPr>
          <a:xfrm>
            <a:off x="548640" y="1097280"/>
            <a:ext cx="3530110" cy="4983480"/>
          </a:xfrm>
          <a:prstGeom prst="rect">
            <a:avLst/>
          </a:prstGeom>
        </p:spPr>
      </p:pic>
      <p:pic>
        <p:nvPicPr>
          <p:cNvPr id="4" name="Figure exp2_top_words part 2" descr="image.png"/>
          <p:cNvPicPr>
            <a:picLocks noChangeAspect="1"/>
          </p:cNvPicPr>
          <p:nvPr/>
        </p:nvPicPr>
        <p:blipFill>
          <a:blip r:embed="rId3"/>
          <a:stretch>
            <a:fillRect/>
          </a:stretch>
        </p:blipFill>
        <p:spPr>
          <a:xfrm>
            <a:off x="4353070" y="1097280"/>
            <a:ext cx="3092349" cy="4983480"/>
          </a:xfrm>
          <a:prstGeom prst="rect">
            <a:avLst/>
          </a:prstGeom>
        </p:spPr>
      </p:pic>
      <p:sp>
        <p:nvSpPr>
          <p:cNvPr id="5" name="Bullets"/>
          <p:cNvSpPr txBox="1"/>
          <p:nvPr/>
        </p:nvSpPr>
        <p:spPr>
          <a:xfrm>
            <a:off x="8625535" y="1325880"/>
            <a:ext cx="3017520" cy="4709160"/>
          </a:xfrm>
          <a:prstGeom prst="rect">
            <a:avLst/>
          </a:prstGeom>
          <a:noFill/>
        </p:spPr>
        <p:txBody>
          <a:bodyPr wrap="square" lIns="0" rIns="0" tIns="0" bIns="0" anchor="ctr">
            <a:spAutoFit/>
          </a:bodyPr>
          <a:lstStyle/>
          <a:p>
            <a:pPr algn="l" marL="274320" indent="-274320">
              <a:lnSpc>
                <a:spcPct val="105000"/>
              </a:lnSpc>
              <a:spcAft>
                <a:spcPts val="1400"/>
              </a:spcAft>
              <a:buClr>
                <a:srgbClr val="088192"/>
              </a:buClr>
              <a:buFont typeface="Arial"/>
              <a:buChar char="•"/>
            </a:pPr>
            <a:r>
              <a:rPr sz="1600" b="0" i="0">
                <a:solidFill>
                  <a:srgbClr val="051218"/>
                </a:solidFill>
                <a:latin typeface="Calibri"/>
              </a:rPr>
              <a:t>With # and @ kept, the top words are hashtags and account names</a:t>
            </a:r>
          </a:p>
          <a:p>
            <a:pPr algn="l" marL="274320" indent="-274320">
              <a:lnSpc>
                <a:spcPct val="105000"/>
              </a:lnSpc>
              <a:spcAft>
                <a:spcPts val="1400"/>
              </a:spcAft>
              <a:buClr>
                <a:srgbClr val="088192"/>
              </a:buClr>
              <a:buFont typeface="Arial"/>
              <a:buChar char="•"/>
            </a:pPr>
            <a:r>
              <a:rPr sz="1600" b="0" i="0">
                <a:solidFill>
                  <a:srgbClr val="051218"/>
                </a:solidFill>
                <a:latin typeface="Calibri"/>
              </a:rPr>
              <a:t>Some belong to one person: #az01 was used by 1 member</a:t>
            </a:r>
          </a:p>
          <a:p>
            <a:pPr algn="l" marL="274320" indent="-274320">
              <a:lnSpc>
                <a:spcPct val="105000"/>
              </a:lnSpc>
              <a:spcAft>
                <a:spcPts val="1400"/>
              </a:spcAft>
              <a:buClr>
                <a:srgbClr val="088192"/>
              </a:buClr>
              <a:buFont typeface="Arial"/>
              <a:buChar char="•"/>
            </a:pPr>
            <a:r>
              <a:rPr sz="1600" b="0" i="0">
                <a:solidFill>
                  <a:srgbClr val="051218"/>
                </a:solidFill>
                <a:latin typeface="Calibri"/>
              </a:rPr>
              <a:t>Without them, real topics appear: reproductive, inequity, unborn, amnesty</a:t>
            </a:r>
          </a:p>
          <a:p>
            <a:pPr algn="l" marL="274320" indent="-274320">
              <a:lnSpc>
                <a:spcPct val="105000"/>
              </a:lnSpc>
              <a:spcAft>
                <a:spcPts val="1400"/>
              </a:spcAft>
              <a:buClr>
                <a:srgbClr val="088192"/>
              </a:buClr>
              <a:buFont typeface="Arial"/>
              <a:buChar char="•"/>
            </a:pPr>
            <a:r>
              <a:rPr sz="1600" b="0" i="0">
                <a:solidFill>
                  <a:srgbClr val="051218"/>
                </a:solidFill>
                <a:latin typeface="Calibri"/>
              </a:rPr>
              <a:t>Turquoise is Democratic, gold is Republican</a:t>
            </a:r>
          </a:p>
        </p:txBody>
      </p:sp>
      <p:sp>
        <p:nvSpPr>
          <p:cNvPr id="6"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RESULTS</a:t>
            </a:r>
          </a:p>
        </p:txBody>
      </p:sp>
      <p:sp>
        <p:nvSpPr>
          <p:cNvPr id="8"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EXTENSION</a:t>
            </a:r>
            <a:r>
              <a:rPr sz="2600" b="0" i="0" spc="400">
                <a:solidFill>
                  <a:srgbClr val="051218"/>
                </a:solidFill>
                <a:latin typeface="Georgia"/>
              </a:rPr>
              <a:t> 1: TF-IDF</a:t>
            </a:r>
          </a:p>
        </p:txBody>
      </p:sp>
      <p:pic>
        <p:nvPicPr>
          <p:cNvPr id="3" name="Figure ext1_tfidf_lr" descr="ext1_tfidf_lr.png"/>
          <p:cNvPicPr>
            <a:picLocks noChangeAspect="1"/>
          </p:cNvPicPr>
          <p:nvPr/>
        </p:nvPicPr>
        <p:blipFill>
          <a:blip r:embed="rId2"/>
          <a:stretch>
            <a:fillRect/>
          </a:stretch>
        </p:blipFill>
        <p:spPr>
          <a:xfrm>
            <a:off x="1914679" y="1097280"/>
            <a:ext cx="8362335" cy="3703320"/>
          </a:xfrm>
          <a:prstGeom prst="rect">
            <a:avLst/>
          </a:prstGeom>
        </p:spPr>
      </p:pic>
      <p:sp>
        <p:nvSpPr>
          <p:cNvPr id="4" name="Number 1 block"/>
          <p:cNvSpPr/>
          <p:nvPr/>
        </p:nvSpPr>
        <p:spPr>
          <a:xfrm>
            <a:off x="548640" y="5074920"/>
            <a:ext cx="3931920" cy="96012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Number 1 text"/>
          <p:cNvSpPr txBox="1"/>
          <p:nvPr/>
        </p:nvSpPr>
        <p:spPr>
          <a:xfrm>
            <a:off x="777240" y="5257800"/>
            <a:ext cx="3474720" cy="594360"/>
          </a:xfrm>
          <a:prstGeom prst="rect">
            <a:avLst/>
          </a:prstGeom>
          <a:noFill/>
        </p:spPr>
        <p:txBody>
          <a:bodyPr wrap="square" lIns="0" rIns="0" tIns="0" bIns="0" anchor="ctr">
            <a:spAutoFit/>
          </a:bodyPr>
          <a:lstStyle/>
          <a:p>
            <a:pPr algn="l">
              <a:spcAft>
                <a:spcPts val="400"/>
              </a:spcAft>
            </a:pPr>
            <a:r>
              <a:rPr sz="2400" b="1" i="0">
                <a:solidFill>
                  <a:srgbClr val="BCAC79"/>
                </a:solidFill>
                <a:latin typeface="Calibri"/>
              </a:rPr>
              <a:t>+2.9 points</a:t>
            </a:r>
          </a:p>
          <a:p>
            <a:pPr algn="l">
              <a:spcAft>
                <a:spcPts val="0"/>
              </a:spcAft>
            </a:pPr>
            <a:r>
              <a:rPr sz="1400" b="0" i="0">
                <a:solidFill>
                  <a:srgbClr val="F2EFE6"/>
                </a:solidFill>
                <a:latin typeface="Calibri"/>
              </a:rPr>
              <a:t>balanced score on new members (82.4 vs 79.5)</a:t>
            </a:r>
          </a:p>
        </p:txBody>
      </p:sp>
      <p:sp>
        <p:nvSpPr>
          <p:cNvPr id="6" name="Bullets"/>
          <p:cNvSpPr txBox="1"/>
          <p:nvPr/>
        </p:nvSpPr>
        <p:spPr>
          <a:xfrm>
            <a:off x="4937759" y="5074920"/>
            <a:ext cx="6705295" cy="960120"/>
          </a:xfrm>
          <a:prstGeom prst="rect">
            <a:avLst/>
          </a:prstGeom>
          <a:noFill/>
        </p:spPr>
        <p:txBody>
          <a:bodyPr wrap="square" lIns="0" rIns="0" tIns="0" bIns="0" anchor="ctr">
            <a:spAutoFit/>
          </a:bodyPr>
          <a:lstStyle/>
          <a:p>
            <a:pPr algn="l" marL="274320" indent="-274320">
              <a:lnSpc>
                <a:spcPct val="105000"/>
              </a:lnSpc>
              <a:spcAft>
                <a:spcPts val="400"/>
              </a:spcAft>
              <a:buClr>
                <a:srgbClr val="088192"/>
              </a:buClr>
              <a:buFont typeface="Arial"/>
              <a:buChar char="•"/>
            </a:pPr>
            <a:r>
              <a:rPr sz="1500" b="0" i="0">
                <a:solidFill>
                  <a:srgbClr val="051218"/>
                </a:solidFill>
                <a:latin typeface="Calibri"/>
              </a:rPr>
              <a:t>Words every politician uses count less; word pairs are added</a:t>
            </a:r>
          </a:p>
          <a:p>
            <a:pPr algn="l" marL="274320" indent="-274320">
              <a:lnSpc>
                <a:spcPct val="105000"/>
              </a:lnSpc>
              <a:spcAft>
                <a:spcPts val="400"/>
              </a:spcAft>
              <a:buClr>
                <a:srgbClr val="088192"/>
              </a:buClr>
              <a:buFont typeface="Arial"/>
              <a:buChar char="•"/>
            </a:pPr>
            <a:r>
              <a:rPr sz="1500" b="0" i="0">
                <a:solidFill>
                  <a:srgbClr val="051218"/>
                </a:solidFill>
                <a:latin typeface="Calibri"/>
              </a:rPr>
              <a:t>New members: 83.3% accuracy, our best tweet model</a:t>
            </a:r>
          </a:p>
          <a:p>
            <a:pPr algn="l" marL="274320" indent="-274320">
              <a:lnSpc>
                <a:spcPct val="105000"/>
              </a:lnSpc>
              <a:spcAft>
                <a:spcPts val="400"/>
              </a:spcAft>
              <a:buClr>
                <a:srgbClr val="088192"/>
              </a:buClr>
              <a:buFont typeface="Arial"/>
              <a:buChar char="•"/>
            </a:pPr>
            <a:r>
              <a:rPr sz="1500" b="0" i="0">
                <a:solidFill>
                  <a:srgbClr val="051218"/>
                </a:solidFill>
                <a:latin typeface="Calibri"/>
              </a:rPr>
              <a:t>News: 59.2%, no better than always guessing R (59.8%)</a:t>
            </a:r>
          </a:p>
        </p:txBody>
      </p:sp>
      <p:sp>
        <p:nvSpPr>
          <p:cNvPr id="7"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EXTENSIONS</a:t>
            </a:r>
          </a:p>
        </p:txBody>
      </p:sp>
      <p:sp>
        <p:nvSpPr>
          <p:cNvPr id="9"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EXPERIMENT</a:t>
            </a:r>
            <a:r>
              <a:rPr sz="2600" b="0" i="0" spc="400">
                <a:solidFill>
                  <a:srgbClr val="051218"/>
                </a:solidFill>
                <a:latin typeface="Georgia"/>
              </a:rPr>
              <a:t> 3: TWEETS TO NEWS</a:t>
            </a:r>
          </a:p>
        </p:txBody>
      </p:sp>
      <p:pic>
        <p:nvPicPr>
          <p:cNvPr id="3" name="Figure exp3_comparison" descr="exp3_comparison.png"/>
          <p:cNvPicPr>
            <a:picLocks noChangeAspect="1"/>
          </p:cNvPicPr>
          <p:nvPr/>
        </p:nvPicPr>
        <p:blipFill>
          <a:blip r:embed="rId2"/>
          <a:stretch>
            <a:fillRect/>
          </a:stretch>
        </p:blipFill>
        <p:spPr>
          <a:xfrm>
            <a:off x="2083917" y="1097280"/>
            <a:ext cx="8023860" cy="3703320"/>
          </a:xfrm>
          <a:prstGeom prst="rect">
            <a:avLst/>
          </a:prstGeom>
        </p:spPr>
      </p:pic>
      <p:sp>
        <p:nvSpPr>
          <p:cNvPr id="4" name="Number 1 block"/>
          <p:cNvSpPr/>
          <p:nvPr/>
        </p:nvSpPr>
        <p:spPr>
          <a:xfrm>
            <a:off x="548640" y="5074920"/>
            <a:ext cx="3931920" cy="96012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Number 1 text"/>
          <p:cNvSpPr txBox="1"/>
          <p:nvPr/>
        </p:nvSpPr>
        <p:spPr>
          <a:xfrm>
            <a:off x="777240" y="5257800"/>
            <a:ext cx="3474720" cy="594360"/>
          </a:xfrm>
          <a:prstGeom prst="rect">
            <a:avLst/>
          </a:prstGeom>
          <a:noFill/>
        </p:spPr>
        <p:txBody>
          <a:bodyPr wrap="square" lIns="0" rIns="0" tIns="0" bIns="0" anchor="ctr">
            <a:spAutoFit/>
          </a:bodyPr>
          <a:lstStyle/>
          <a:p>
            <a:pPr algn="l">
              <a:spcAft>
                <a:spcPts val="400"/>
              </a:spcAft>
            </a:pPr>
            <a:r>
              <a:rPr sz="2400" b="1" i="0">
                <a:solidFill>
                  <a:srgbClr val="BCAC79"/>
                </a:solidFill>
                <a:latin typeface="Calibri"/>
              </a:rPr>
              <a:t>1,001</a:t>
            </a:r>
          </a:p>
          <a:p>
            <a:pPr algn="l">
              <a:spcAft>
                <a:spcPts val="0"/>
              </a:spcAft>
            </a:pPr>
            <a:r>
              <a:rPr sz="1400" b="0" i="0">
                <a:solidFill>
                  <a:srgbClr val="F2EFE6"/>
                </a:solidFill>
                <a:latin typeface="Calibri"/>
              </a:rPr>
              <a:t>public unseen articles</a:t>
            </a:r>
          </a:p>
        </p:txBody>
      </p:sp>
      <p:sp>
        <p:nvSpPr>
          <p:cNvPr id="6" name="Bullets"/>
          <p:cNvSpPr txBox="1"/>
          <p:nvPr/>
        </p:nvSpPr>
        <p:spPr>
          <a:xfrm>
            <a:off x="4937759" y="5074920"/>
            <a:ext cx="6705295" cy="960120"/>
          </a:xfrm>
          <a:prstGeom prst="rect">
            <a:avLst/>
          </a:prstGeom>
          <a:noFill/>
        </p:spPr>
        <p:txBody>
          <a:bodyPr wrap="square" lIns="0" rIns="0" tIns="0" bIns="0" anchor="ctr">
            <a:spAutoFit/>
          </a:bodyPr>
          <a:lstStyle/>
          <a:p>
            <a:pPr algn="l" marL="274320" indent="-274320">
              <a:lnSpc>
                <a:spcPct val="105000"/>
              </a:lnSpc>
              <a:spcAft>
                <a:spcPts val="400"/>
              </a:spcAft>
              <a:buClr>
                <a:srgbClr val="088192"/>
              </a:buClr>
              <a:buFont typeface="Arial"/>
              <a:buChar char="•"/>
            </a:pPr>
            <a:r>
              <a:rPr sz="1500" b="0" i="0">
                <a:solidFill>
                  <a:srgbClr val="051218"/>
                </a:solidFill>
                <a:latin typeface="Calibri"/>
              </a:rPr>
              <a:t>Paper SVM: 63% on 100 private articles.</a:t>
            </a:r>
          </a:p>
          <a:p>
            <a:pPr algn="l" marL="274320" indent="-274320">
              <a:lnSpc>
                <a:spcPct val="105000"/>
              </a:lnSpc>
              <a:spcAft>
                <a:spcPts val="400"/>
              </a:spcAft>
              <a:buClr>
                <a:srgbClr val="088192"/>
              </a:buClr>
              <a:buFont typeface="Arial"/>
              <a:buChar char="•"/>
            </a:pPr>
            <a:r>
              <a:rPr sz="1500" b="0" i="0">
                <a:solidFill>
                  <a:srgbClr val="051218"/>
                </a:solidFill>
                <a:latin typeface="Calibri"/>
              </a:rPr>
              <a:t>Our tuned tweet SVM: 58.4%, below the always-Right baseline of 59.8%.</a:t>
            </a:r>
          </a:p>
          <a:p>
            <a:pPr algn="l" marL="274320" indent="-274320">
              <a:lnSpc>
                <a:spcPct val="105000"/>
              </a:lnSpc>
              <a:spcAft>
                <a:spcPts val="400"/>
              </a:spcAft>
              <a:buClr>
                <a:srgbClr val="088192"/>
              </a:buClr>
              <a:buFont typeface="Arial"/>
              <a:buChar char="•"/>
            </a:pPr>
            <a:r>
              <a:rPr sz="1500" b="0" i="0">
                <a:solidFill>
                  <a:srgbClr val="051218"/>
                </a:solidFill>
                <a:latin typeface="Calibri"/>
              </a:rPr>
              <a:t>Bernoulli and Multinomial Naive Bayes reach 60.6% and 60.5%.</a:t>
            </a:r>
          </a:p>
        </p:txBody>
      </p:sp>
      <p:sp>
        <p:nvSpPr>
          <p:cNvPr id="7"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RESULTS</a:t>
            </a:r>
          </a:p>
        </p:txBody>
      </p:sp>
      <p:sp>
        <p:nvSpPr>
          <p:cNvPr id="9"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WHERE</a:t>
            </a:r>
            <a:r>
              <a:rPr sz="2600" b="0" i="0" spc="400">
                <a:solidFill>
                  <a:srgbClr val="051218"/>
                </a:solidFill>
                <a:latin typeface="Georgia"/>
              </a:rPr>
              <a:t> THE MODEL STILL FAILS</a:t>
            </a:r>
          </a:p>
        </p:txBody>
      </p:sp>
      <p:pic>
        <p:nvPicPr>
          <p:cNvPr id="3" name="Figure exp3_accuracy_by_source" descr="exp3_accuracy_by_source.png"/>
          <p:cNvPicPr>
            <a:picLocks noChangeAspect="1"/>
          </p:cNvPicPr>
          <p:nvPr/>
        </p:nvPicPr>
        <p:blipFill>
          <a:blip r:embed="rId2"/>
          <a:stretch>
            <a:fillRect/>
          </a:stretch>
        </p:blipFill>
        <p:spPr>
          <a:xfrm>
            <a:off x="3065858" y="1097280"/>
            <a:ext cx="6059978" cy="3703320"/>
          </a:xfrm>
          <a:prstGeom prst="rect">
            <a:avLst/>
          </a:prstGeom>
        </p:spPr>
      </p:pic>
      <p:sp>
        <p:nvSpPr>
          <p:cNvPr id="4" name="Bullets"/>
          <p:cNvSpPr txBox="1"/>
          <p:nvPr/>
        </p:nvSpPr>
        <p:spPr>
          <a:xfrm>
            <a:off x="548640" y="5074920"/>
            <a:ext cx="11094415" cy="960120"/>
          </a:xfrm>
          <a:prstGeom prst="rect">
            <a:avLst/>
          </a:prstGeom>
          <a:noFill/>
        </p:spPr>
        <p:txBody>
          <a:bodyPr wrap="square" lIns="0" rIns="0" tIns="0" bIns="0" anchor="ctr">
            <a:spAutoFit/>
          </a:bodyPr>
          <a:lstStyle/>
          <a:p>
            <a:pPr algn="l" marL="274320" indent="-274320">
              <a:lnSpc>
                <a:spcPct val="105000"/>
              </a:lnSpc>
              <a:spcAft>
                <a:spcPts val="400"/>
              </a:spcAft>
              <a:buClr>
                <a:srgbClr val="088192"/>
              </a:buClr>
              <a:buFont typeface="Arial"/>
              <a:buChar char="•"/>
            </a:pPr>
            <a:r>
              <a:rPr sz="1500" b="0" i="0">
                <a:solidFill>
                  <a:srgbClr val="051218"/>
                </a:solidFill>
                <a:latin typeface="Calibri"/>
              </a:rPr>
              <a:t>Accuracy changes sharply across outlets. CNN is below the 50% line.</a:t>
            </a:r>
          </a:p>
          <a:p>
            <a:pPr algn="l" marL="274320" indent="-274320">
              <a:lnSpc>
                <a:spcPct val="105000"/>
              </a:lnSpc>
              <a:spcAft>
                <a:spcPts val="400"/>
              </a:spcAft>
              <a:buClr>
                <a:srgbClr val="088192"/>
              </a:buClr>
              <a:buFont typeface="Arial"/>
              <a:buChar char="•"/>
            </a:pPr>
            <a:r>
              <a:rPr sz="1500" b="0" i="0">
                <a:solidFill>
                  <a:srgbClr val="051218"/>
                </a:solidFill>
                <a:latin typeface="Calibri"/>
              </a:rPr>
              <a:t>A report can be labelled by its outlet even when the wording is neutral.</a:t>
            </a:r>
          </a:p>
          <a:p>
            <a:pPr algn="l" marL="274320" indent="-274320">
              <a:lnSpc>
                <a:spcPct val="105000"/>
              </a:lnSpc>
              <a:spcAft>
                <a:spcPts val="400"/>
              </a:spcAft>
              <a:buClr>
                <a:srgbClr val="088192"/>
              </a:buClr>
              <a:buFont typeface="Arial"/>
              <a:buChar char="•"/>
            </a:pPr>
            <a:r>
              <a:rPr sz="1500" b="0" i="0">
                <a:solidFill>
                  <a:srgbClr val="051218"/>
                </a:solidFill>
                <a:latin typeface="Calibri"/>
              </a:rPr>
              <a:t>Words such as conservative and spending can pull a prediction the wrong way.</a:t>
            </a:r>
          </a:p>
        </p:txBody>
      </p:sp>
      <p:sp>
        <p:nvSpPr>
          <p:cNvPr id="5"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ANALYSIS</a:t>
            </a:r>
          </a:p>
        </p:txBody>
      </p:sp>
      <p:sp>
        <p:nvSpPr>
          <p:cNvPr id="7"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EXTENSION</a:t>
            </a:r>
            <a:r>
              <a:rPr sz="2600" b="0" i="0" spc="400">
                <a:solidFill>
                  <a:srgbClr val="051218"/>
                </a:solidFill>
                <a:latin typeface="Georgia"/>
              </a:rPr>
              <a:t> 2: CHUNK VOTING</a:t>
            </a:r>
          </a:p>
        </p:txBody>
      </p:sp>
      <p:pic>
        <p:nvPicPr>
          <p:cNvPr id="3" name="Figure ext2_chunk_voting" descr="ext2_chunk_voting.png"/>
          <p:cNvPicPr>
            <a:picLocks noChangeAspect="1"/>
          </p:cNvPicPr>
          <p:nvPr/>
        </p:nvPicPr>
        <p:blipFill>
          <a:blip r:embed="rId2"/>
          <a:stretch>
            <a:fillRect/>
          </a:stretch>
        </p:blipFill>
        <p:spPr>
          <a:xfrm>
            <a:off x="2948025" y="1097280"/>
            <a:ext cx="6295644" cy="3703320"/>
          </a:xfrm>
          <a:prstGeom prst="rect">
            <a:avLst/>
          </a:prstGeom>
        </p:spPr>
      </p:pic>
      <p:sp>
        <p:nvSpPr>
          <p:cNvPr id="4" name="Number 1 block"/>
          <p:cNvSpPr/>
          <p:nvPr/>
        </p:nvSpPr>
        <p:spPr>
          <a:xfrm>
            <a:off x="548640" y="5074920"/>
            <a:ext cx="3931920" cy="96012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Number 1 text"/>
          <p:cNvSpPr txBox="1"/>
          <p:nvPr/>
        </p:nvSpPr>
        <p:spPr>
          <a:xfrm>
            <a:off x="777240" y="5257800"/>
            <a:ext cx="3474720" cy="594360"/>
          </a:xfrm>
          <a:prstGeom prst="rect">
            <a:avLst/>
          </a:prstGeom>
          <a:noFill/>
        </p:spPr>
        <p:txBody>
          <a:bodyPr wrap="square" lIns="0" rIns="0" tIns="0" bIns="0" anchor="ctr">
            <a:spAutoFit/>
          </a:bodyPr>
          <a:lstStyle/>
          <a:p>
            <a:pPr algn="l">
              <a:spcAft>
                <a:spcPts val="400"/>
              </a:spcAft>
            </a:pPr>
            <a:r>
              <a:rPr sz="2400" b="1" i="0">
                <a:solidFill>
                  <a:srgbClr val="BCAC79"/>
                </a:solidFill>
                <a:latin typeface="Calibri"/>
              </a:rPr>
              <a:t>50 words</a:t>
            </a:r>
          </a:p>
          <a:p>
            <a:pPr algn="l">
              <a:spcAft>
                <a:spcPts val="0"/>
              </a:spcAft>
            </a:pPr>
            <a:r>
              <a:rPr sz="1400" b="0" i="0">
                <a:solidFill>
                  <a:srgbClr val="F2EFE6"/>
                </a:solidFill>
                <a:latin typeface="Calibri"/>
              </a:rPr>
              <a:t>chunk size chosen on validation data</a:t>
            </a:r>
          </a:p>
        </p:txBody>
      </p:sp>
      <p:sp>
        <p:nvSpPr>
          <p:cNvPr id="6" name="Bullets"/>
          <p:cNvSpPr txBox="1"/>
          <p:nvPr/>
        </p:nvSpPr>
        <p:spPr>
          <a:xfrm>
            <a:off x="4937759" y="5074920"/>
            <a:ext cx="6705295" cy="960120"/>
          </a:xfrm>
          <a:prstGeom prst="rect">
            <a:avLst/>
          </a:prstGeom>
          <a:noFill/>
        </p:spPr>
        <p:txBody>
          <a:bodyPr wrap="square" lIns="0" rIns="0" tIns="0" bIns="0" anchor="ctr">
            <a:spAutoFit/>
          </a:bodyPr>
          <a:lstStyle/>
          <a:p>
            <a:pPr algn="l" marL="274320" indent="-274320">
              <a:lnSpc>
                <a:spcPct val="105000"/>
              </a:lnSpc>
              <a:spcAft>
                <a:spcPts val="400"/>
              </a:spcAft>
              <a:buClr>
                <a:srgbClr val="088192"/>
              </a:buClr>
              <a:buFont typeface="Arial"/>
              <a:buChar char="•"/>
            </a:pPr>
            <a:r>
              <a:rPr sz="1500" b="0" i="0">
                <a:solidFill>
                  <a:srgbClr val="051218"/>
                </a:solidFill>
                <a:latin typeface="Calibri"/>
              </a:rPr>
              <a:t>Split each article into chunks, score each chunk, then average the scores.</a:t>
            </a:r>
          </a:p>
          <a:p>
            <a:pPr algn="l" marL="274320" indent="-274320">
              <a:lnSpc>
                <a:spcPct val="105000"/>
              </a:lnSpc>
              <a:spcAft>
                <a:spcPts val="400"/>
              </a:spcAft>
              <a:buClr>
                <a:srgbClr val="088192"/>
              </a:buClr>
              <a:buFont typeface="Arial"/>
              <a:buChar char="•"/>
            </a:pPr>
            <a:r>
              <a:rPr sz="1500" b="0" i="0">
                <a:solidFill>
                  <a:srgbClr val="051218"/>
                </a:solidFill>
                <a:latin typeface="Calibri"/>
              </a:rPr>
              <a:t>Bernoulli Naive Bayes changes only from 60.6% to 60.8%.</a:t>
            </a:r>
          </a:p>
          <a:p>
            <a:pPr algn="l" marL="274320" indent="-274320">
              <a:lnSpc>
                <a:spcPct val="105000"/>
              </a:lnSpc>
              <a:spcAft>
                <a:spcPts val="400"/>
              </a:spcAft>
              <a:buClr>
                <a:srgbClr val="088192"/>
              </a:buClr>
              <a:buFont typeface="Arial"/>
              <a:buChar char="•"/>
            </a:pPr>
            <a:r>
              <a:rPr sz="1500" b="0" i="0">
                <a:solidFill>
                  <a:srgbClr val="051218"/>
                </a:solidFill>
                <a:latin typeface="Calibri"/>
              </a:rPr>
              <a:t>LinearSVC falls from 58.4% to 51.8%.</a:t>
            </a:r>
          </a:p>
          <a:p>
            <a:pPr algn="l" marL="274320" indent="-274320">
              <a:lnSpc>
                <a:spcPct val="105000"/>
              </a:lnSpc>
              <a:spcAft>
                <a:spcPts val="400"/>
              </a:spcAft>
              <a:buClr>
                <a:srgbClr val="088192"/>
              </a:buClr>
              <a:buFont typeface="Arial"/>
              <a:buChar char="•"/>
            </a:pPr>
            <a:r>
              <a:rPr sz="1500" b="0" i="0">
                <a:solidFill>
                  <a:srgbClr val="051218"/>
                </a:solidFill>
                <a:latin typeface="Calibri"/>
              </a:rPr>
              <a:t>Chunking does not reliably close the tweet-to-news gap.</a:t>
            </a:r>
          </a:p>
        </p:txBody>
      </p:sp>
      <p:sp>
        <p:nvSpPr>
          <p:cNvPr id="7"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EXTENSIONS</a:t>
            </a:r>
          </a:p>
        </p:txBody>
      </p:sp>
      <p:sp>
        <p:nvSpPr>
          <p:cNvPr id="9"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EXTENSION</a:t>
            </a:r>
            <a:r>
              <a:rPr sz="2600" b="0" i="0" spc="400">
                <a:solidFill>
                  <a:srgbClr val="051218"/>
                </a:solidFill>
                <a:latin typeface="Georgia"/>
              </a:rPr>
              <a:t> 3: TRAIN ON ARTICLES</a:t>
            </a:r>
          </a:p>
        </p:txBody>
      </p:sp>
      <p:pic>
        <p:nvPicPr>
          <p:cNvPr id="3" name="Figure ext3_in_domain" descr="ext3_in_domain.png"/>
          <p:cNvPicPr>
            <a:picLocks noChangeAspect="1"/>
          </p:cNvPicPr>
          <p:nvPr/>
        </p:nvPicPr>
        <p:blipFill>
          <a:blip r:embed="rId2"/>
          <a:stretch>
            <a:fillRect/>
          </a:stretch>
        </p:blipFill>
        <p:spPr>
          <a:xfrm>
            <a:off x="1852460" y="1097280"/>
            <a:ext cx="8486775" cy="3703320"/>
          </a:xfrm>
          <a:prstGeom prst="rect">
            <a:avLst/>
          </a:prstGeom>
        </p:spPr>
      </p:pic>
      <p:sp>
        <p:nvSpPr>
          <p:cNvPr id="4" name="Number 1 block"/>
          <p:cNvSpPr/>
          <p:nvPr/>
        </p:nvSpPr>
        <p:spPr>
          <a:xfrm>
            <a:off x="548640" y="5074920"/>
            <a:ext cx="3931920" cy="96012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Number 1 text"/>
          <p:cNvSpPr txBox="1"/>
          <p:nvPr/>
        </p:nvSpPr>
        <p:spPr>
          <a:xfrm>
            <a:off x="777240" y="5257800"/>
            <a:ext cx="3474720" cy="594360"/>
          </a:xfrm>
          <a:prstGeom prst="rect">
            <a:avLst/>
          </a:prstGeom>
          <a:noFill/>
        </p:spPr>
        <p:txBody>
          <a:bodyPr wrap="square" lIns="0" rIns="0" tIns="0" bIns="0" anchor="ctr">
            <a:spAutoFit/>
          </a:bodyPr>
          <a:lstStyle/>
          <a:p>
            <a:pPr algn="l">
              <a:spcAft>
                <a:spcPts val="400"/>
              </a:spcAft>
            </a:pPr>
            <a:r>
              <a:rPr sz="2400" b="1" i="0">
                <a:solidFill>
                  <a:srgbClr val="BCAC79"/>
                </a:solidFill>
                <a:latin typeface="Calibri"/>
              </a:rPr>
              <a:t>+6.7 points</a:t>
            </a:r>
          </a:p>
          <a:p>
            <a:pPr algn="l">
              <a:spcAft>
                <a:spcPts val="0"/>
              </a:spcAft>
            </a:pPr>
            <a:r>
              <a:rPr sz="1400" b="0" i="0">
                <a:solidFill>
                  <a:srgbClr val="F2EFE6"/>
                </a:solidFill>
                <a:latin typeface="Calibri"/>
              </a:rPr>
              <a:t>over the always-Right baseline</a:t>
            </a:r>
          </a:p>
        </p:txBody>
      </p:sp>
      <p:sp>
        <p:nvSpPr>
          <p:cNvPr id="6" name="Bullets"/>
          <p:cNvSpPr txBox="1"/>
          <p:nvPr/>
        </p:nvSpPr>
        <p:spPr>
          <a:xfrm>
            <a:off x="4937759" y="5074920"/>
            <a:ext cx="6705295" cy="960120"/>
          </a:xfrm>
          <a:prstGeom prst="rect">
            <a:avLst/>
          </a:prstGeom>
          <a:noFill/>
        </p:spPr>
        <p:txBody>
          <a:bodyPr wrap="square" lIns="0" rIns="0" tIns="0" bIns="0" anchor="ctr">
            <a:spAutoFit/>
          </a:bodyPr>
          <a:lstStyle/>
          <a:p>
            <a:pPr algn="l" marL="274320" indent="-274320">
              <a:lnSpc>
                <a:spcPct val="105000"/>
              </a:lnSpc>
              <a:spcAft>
                <a:spcPts val="400"/>
              </a:spcAft>
              <a:buClr>
                <a:srgbClr val="088192"/>
              </a:buClr>
              <a:buFont typeface="Arial"/>
              <a:buChar char="•"/>
            </a:pPr>
            <a:r>
              <a:rPr sz="1500" b="0" i="0">
                <a:solidFill>
                  <a:srgbClr val="051218"/>
                </a:solidFill>
                <a:latin typeface="Calibri"/>
              </a:rPr>
              <a:t>Train on 19,102 AllSides articles, then test on 1,001 unseen articles.</a:t>
            </a:r>
          </a:p>
          <a:p>
            <a:pPr algn="l" marL="274320" indent="-274320">
              <a:lnSpc>
                <a:spcPct val="105000"/>
              </a:lnSpc>
              <a:spcAft>
                <a:spcPts val="400"/>
              </a:spcAft>
              <a:buClr>
                <a:srgbClr val="088192"/>
              </a:buClr>
              <a:buFont typeface="Arial"/>
              <a:buChar char="•"/>
            </a:pPr>
            <a:r>
              <a:rPr sz="1500" b="0" i="0">
                <a:solidFill>
                  <a:srgbClr val="051218"/>
                </a:solidFill>
                <a:latin typeface="Calibri"/>
              </a:rPr>
              <a:t>LinearSVC reaches 66.5% accuracy and 65.8% macro F1.</a:t>
            </a:r>
          </a:p>
          <a:p>
            <a:pPr algn="l" marL="274320" indent="-274320">
              <a:lnSpc>
                <a:spcPct val="105000"/>
              </a:lnSpc>
              <a:spcAft>
                <a:spcPts val="400"/>
              </a:spcAft>
              <a:buClr>
                <a:srgbClr val="088192"/>
              </a:buClr>
              <a:buFont typeface="Arial"/>
              <a:buChar char="•"/>
            </a:pPr>
            <a:r>
              <a:rPr sz="1500" b="0" i="0">
                <a:solidFill>
                  <a:srgbClr val="051218"/>
                </a:solidFill>
                <a:latin typeface="Calibri"/>
              </a:rPr>
              <a:t>The three-class task is harder: the best model reaches 53.7%.</a:t>
            </a:r>
          </a:p>
        </p:txBody>
      </p:sp>
      <p:sp>
        <p:nvSpPr>
          <p:cNvPr id="7"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EXTENSIONS</a:t>
            </a:r>
          </a:p>
        </p:txBody>
      </p:sp>
      <p:sp>
        <p:nvSpPr>
          <p:cNvPr id="9"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LIVE</a:t>
            </a:r>
            <a:r>
              <a:rPr sz="2600" b="0" i="0" spc="400">
                <a:solidFill>
                  <a:srgbClr val="051218"/>
                </a:solidFill>
                <a:latin typeface="Georgia"/>
              </a:rPr>
              <a:t> DEMO: THREE STEPS</a:t>
            </a:r>
          </a:p>
        </p:txBody>
      </p:sp>
      <p:sp>
        <p:nvSpPr>
          <p:cNvPr id="3" name="Step 1 block"/>
          <p:cNvSpPr/>
          <p:nvPr/>
        </p:nvSpPr>
        <p:spPr>
          <a:xfrm>
            <a:off x="548640" y="1943100"/>
            <a:ext cx="3515258" cy="2103120"/>
          </a:xfrm>
          <a:prstGeom prst="roundRect">
            <a:avLst>
              <a:gd name="adj" fmla="val 18000"/>
            </a:avLst>
          </a:prstGeom>
          <a:solidFill>
            <a:srgbClr val="0881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tep 1 label"/>
          <p:cNvSpPr txBox="1"/>
          <p:nvPr/>
        </p:nvSpPr>
        <p:spPr>
          <a:xfrm>
            <a:off x="868680" y="2217420"/>
            <a:ext cx="2875178"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01</a:t>
            </a:r>
          </a:p>
          <a:p>
            <a:pPr algn="l">
              <a:spcAft>
                <a:spcPts val="0"/>
              </a:spcAft>
            </a:pPr>
            <a:r>
              <a:rPr sz="1500" b="1" i="0" spc="200">
                <a:solidFill>
                  <a:srgbClr val="F2EFE6"/>
                </a:solidFill>
                <a:latin typeface="Calibri"/>
              </a:rPr>
              <a:t>1. EASY CORRECT CASE</a:t>
            </a:r>
          </a:p>
        </p:txBody>
      </p:sp>
      <p:sp>
        <p:nvSpPr>
          <p:cNvPr id="5" name="Step 1 text"/>
          <p:cNvSpPr txBox="1"/>
          <p:nvPr/>
        </p:nvSpPr>
        <p:spPr>
          <a:xfrm>
            <a:off x="594360" y="4320540"/>
            <a:ext cx="3423818"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Score the Breitbart article with the article-trained model.</a:t>
            </a:r>
          </a:p>
        </p:txBody>
      </p:sp>
      <p:sp>
        <p:nvSpPr>
          <p:cNvPr id="6" name="Step 2 block"/>
          <p:cNvSpPr/>
          <p:nvPr/>
        </p:nvSpPr>
        <p:spPr>
          <a:xfrm>
            <a:off x="4338218" y="1943100"/>
            <a:ext cx="3515258" cy="2103120"/>
          </a:xfrm>
          <a:prstGeom prst="roundRect">
            <a:avLst>
              <a:gd name="adj" fmla="val 18000"/>
            </a:avLst>
          </a:prstGeom>
          <a:solidFill>
            <a:srgbClr val="0A5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ep 2 label"/>
          <p:cNvSpPr txBox="1"/>
          <p:nvPr/>
        </p:nvSpPr>
        <p:spPr>
          <a:xfrm>
            <a:off x="4658258" y="2217420"/>
            <a:ext cx="2875178"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02</a:t>
            </a:r>
          </a:p>
          <a:p>
            <a:pPr algn="l">
              <a:spcAft>
                <a:spcPts val="0"/>
              </a:spcAft>
            </a:pPr>
            <a:r>
              <a:rPr sz="1500" b="1" i="0" spc="200">
                <a:solidFill>
                  <a:srgbClr val="F2EFE6"/>
                </a:solidFill>
                <a:latin typeface="Calibri"/>
              </a:rPr>
              <a:t>2. SHOW A FAILURE</a:t>
            </a:r>
          </a:p>
        </p:txBody>
      </p:sp>
      <p:sp>
        <p:nvSpPr>
          <p:cNvPr id="8" name="Step 2 text"/>
          <p:cNvSpPr txBox="1"/>
          <p:nvPr/>
        </p:nvSpPr>
        <p:spPr>
          <a:xfrm>
            <a:off x="4383938" y="4320540"/>
            <a:ext cx="3423818"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Use the CNN article, then switch to the tweet SVM for comparison.</a:t>
            </a:r>
          </a:p>
        </p:txBody>
      </p:sp>
      <p:sp>
        <p:nvSpPr>
          <p:cNvPr id="9" name="Step 3 block"/>
          <p:cNvSpPr/>
          <p:nvPr/>
        </p:nvSpPr>
        <p:spPr>
          <a:xfrm>
            <a:off x="8127796" y="1943100"/>
            <a:ext cx="3515258" cy="2103120"/>
          </a:xfrm>
          <a:prstGeom prst="roundRect">
            <a:avLst>
              <a:gd name="adj" fmla="val 18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3 label"/>
          <p:cNvSpPr txBox="1"/>
          <p:nvPr/>
        </p:nvSpPr>
        <p:spPr>
          <a:xfrm>
            <a:off x="8447836" y="2217420"/>
            <a:ext cx="2875178" cy="1554479"/>
          </a:xfrm>
          <a:prstGeom prst="rect">
            <a:avLst/>
          </a:prstGeom>
          <a:noFill/>
        </p:spPr>
        <p:txBody>
          <a:bodyPr wrap="square" lIns="0" rIns="0" tIns="0" bIns="0" anchor="b">
            <a:spAutoFit/>
          </a:bodyPr>
          <a:lstStyle/>
          <a:p>
            <a:pPr algn="l">
              <a:spcAft>
                <a:spcPts val="200"/>
              </a:spcAft>
            </a:pPr>
            <a:r>
              <a:rPr sz="4400" b="1" i="0">
                <a:solidFill>
                  <a:srgbClr val="BCAC79"/>
                </a:solidFill>
                <a:latin typeface="Calibri"/>
              </a:rPr>
              <a:t>03</a:t>
            </a:r>
          </a:p>
          <a:p>
            <a:pPr algn="l">
              <a:spcAft>
                <a:spcPts val="0"/>
              </a:spcAft>
            </a:pPr>
            <a:r>
              <a:rPr sz="1500" b="1" i="0" spc="200">
                <a:solidFill>
                  <a:srgbClr val="F2EFE6"/>
                </a:solidFill>
                <a:latin typeface="Calibri"/>
              </a:rPr>
              <a:t>3. PASTE A SENTENCE</a:t>
            </a:r>
          </a:p>
        </p:txBody>
      </p:sp>
      <p:sp>
        <p:nvSpPr>
          <p:cNvPr id="11" name="Step 3 text"/>
          <p:cNvSpPr txBox="1"/>
          <p:nvPr/>
        </p:nvSpPr>
        <p:spPr>
          <a:xfrm>
            <a:off x="8173516" y="4320540"/>
            <a:ext cx="3423818" cy="1097280"/>
          </a:xfrm>
          <a:prstGeom prst="rect">
            <a:avLst/>
          </a:prstGeom>
          <a:noFill/>
        </p:spPr>
        <p:txBody>
          <a:bodyPr wrap="square" lIns="0" rIns="0" tIns="0" bIns="0" anchor="t">
            <a:spAutoFit/>
          </a:bodyPr>
          <a:lstStyle/>
          <a:p>
            <a:pPr algn="l">
              <a:spcAft>
                <a:spcPts val="0"/>
              </a:spcAft>
            </a:pPr>
            <a:r>
              <a:rPr sz="1700" b="0" i="0">
                <a:solidFill>
                  <a:srgbClr val="051218"/>
                </a:solidFill>
                <a:latin typeface="Calibri"/>
              </a:rPr>
              <a:t>Show the uncertain free-text result. The CLI is ready as a fallback.</a:t>
            </a:r>
          </a:p>
        </p:txBody>
      </p:sp>
      <p:sp>
        <p:nvSpPr>
          <p:cNvPr id="12"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DEMO</a:t>
            </a:r>
          </a:p>
        </p:txBody>
      </p:sp>
      <p:sp>
        <p:nvSpPr>
          <p:cNvPr id="14"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RESULTS</a:t>
            </a:r>
            <a:r>
              <a:rPr sz="2600" b="0" i="0" spc="400">
                <a:solidFill>
                  <a:srgbClr val="051218"/>
                </a:solidFill>
                <a:latin typeface="Georgia"/>
              </a:rPr>
              <a:t> AT A GLANCE</a:t>
            </a:r>
          </a:p>
        </p:txBody>
      </p:sp>
      <p:sp>
        <p:nvSpPr>
          <p:cNvPr id="3" name="Number 1 block"/>
          <p:cNvSpPr/>
          <p:nvPr/>
        </p:nvSpPr>
        <p:spPr>
          <a:xfrm>
            <a:off x="548640" y="1325880"/>
            <a:ext cx="3515258"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1 text"/>
          <p:cNvSpPr txBox="1"/>
          <p:nvPr/>
        </p:nvSpPr>
        <p:spPr>
          <a:xfrm>
            <a:off x="777240" y="1508760"/>
            <a:ext cx="3058058"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83.3%</a:t>
            </a:r>
          </a:p>
          <a:p>
            <a:pPr algn="l">
              <a:spcAft>
                <a:spcPts val="0"/>
              </a:spcAft>
            </a:pPr>
            <a:r>
              <a:rPr sz="1400" b="0" i="0">
                <a:solidFill>
                  <a:srgbClr val="F2EFE6"/>
                </a:solidFill>
                <a:latin typeface="Calibri"/>
              </a:rPr>
              <a:t>best tweet accuracy, Extension 1</a:t>
            </a:r>
          </a:p>
        </p:txBody>
      </p:sp>
      <p:sp>
        <p:nvSpPr>
          <p:cNvPr id="5" name="Number 2 block"/>
          <p:cNvSpPr/>
          <p:nvPr/>
        </p:nvSpPr>
        <p:spPr>
          <a:xfrm>
            <a:off x="4338218" y="1325880"/>
            <a:ext cx="3515258"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2 text"/>
          <p:cNvSpPr txBox="1"/>
          <p:nvPr/>
        </p:nvSpPr>
        <p:spPr>
          <a:xfrm>
            <a:off x="4566818" y="1508760"/>
            <a:ext cx="3058058"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66.5%</a:t>
            </a:r>
          </a:p>
          <a:p>
            <a:pPr algn="l">
              <a:spcAft>
                <a:spcPts val="0"/>
              </a:spcAft>
            </a:pPr>
            <a:r>
              <a:rPr sz="1400" b="0" i="0">
                <a:solidFill>
                  <a:srgbClr val="F2EFE6"/>
                </a:solidFill>
                <a:latin typeface="Calibri"/>
              </a:rPr>
              <a:t>best article accuracy, Extension 3</a:t>
            </a:r>
          </a:p>
        </p:txBody>
      </p:sp>
      <p:sp>
        <p:nvSpPr>
          <p:cNvPr id="7" name="Number 3 block"/>
          <p:cNvSpPr/>
          <p:nvPr/>
        </p:nvSpPr>
        <p:spPr>
          <a:xfrm>
            <a:off x="8127796" y="1325880"/>
            <a:ext cx="3515258" cy="1600200"/>
          </a:xfrm>
          <a:prstGeom prst="roundRect">
            <a:avLst>
              <a:gd name="adj" fmla="val 10000"/>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3 text"/>
          <p:cNvSpPr txBox="1"/>
          <p:nvPr/>
        </p:nvSpPr>
        <p:spPr>
          <a:xfrm>
            <a:off x="8356396" y="1508760"/>
            <a:ext cx="3058058" cy="1234440"/>
          </a:xfrm>
          <a:prstGeom prst="rect">
            <a:avLst/>
          </a:prstGeom>
          <a:noFill/>
        </p:spPr>
        <p:txBody>
          <a:bodyPr wrap="square" lIns="0" rIns="0" tIns="0" bIns="0" anchor="ctr">
            <a:spAutoFit/>
          </a:bodyPr>
          <a:lstStyle/>
          <a:p>
            <a:pPr algn="l">
              <a:spcAft>
                <a:spcPts val="400"/>
              </a:spcAft>
            </a:pPr>
            <a:r>
              <a:rPr sz="3600" b="1" i="0">
                <a:solidFill>
                  <a:srgbClr val="BCAC79"/>
                </a:solidFill>
                <a:latin typeface="Calibri"/>
              </a:rPr>
              <a:t>59.8%</a:t>
            </a:r>
          </a:p>
          <a:p>
            <a:pPr algn="l">
              <a:spcAft>
                <a:spcPts val="0"/>
              </a:spcAft>
            </a:pPr>
            <a:r>
              <a:rPr sz="1400" b="0" i="0">
                <a:solidFill>
                  <a:srgbClr val="F2EFE6"/>
                </a:solidFill>
                <a:latin typeface="Calibri"/>
              </a:rPr>
              <a:t>always-Right article baseline</a:t>
            </a:r>
          </a:p>
        </p:txBody>
      </p:sp>
      <p:sp>
        <p:nvSpPr>
          <p:cNvPr id="9" name="Bullets"/>
          <p:cNvSpPr txBox="1"/>
          <p:nvPr/>
        </p:nvSpPr>
        <p:spPr>
          <a:xfrm>
            <a:off x="548640" y="3337560"/>
            <a:ext cx="11094415" cy="2697480"/>
          </a:xfrm>
          <a:prstGeom prst="rect">
            <a:avLst/>
          </a:prstGeom>
          <a:noFill/>
        </p:spPr>
        <p:txBody>
          <a:bodyPr wrap="square" lIns="0" rIns="0" tIns="0" bIns="0" anchor="t">
            <a:spAutoFit/>
          </a:bodyPr>
          <a:lstStyle/>
          <a:p>
            <a:pPr algn="l" marL="274320" indent="-274320">
              <a:lnSpc>
                <a:spcPct val="105000"/>
              </a:lnSpc>
              <a:spcAft>
                <a:spcPts val="1400"/>
              </a:spcAft>
              <a:buClr>
                <a:srgbClr val="088192"/>
              </a:buClr>
              <a:buFont typeface="Arial"/>
              <a:buChar char="•"/>
            </a:pPr>
            <a:r>
              <a:rPr sz="1800" b="0" i="0">
                <a:solidFill>
                  <a:srgbClr val="051218"/>
                </a:solidFill>
                <a:latin typeface="Calibri"/>
              </a:rPr>
              <a:t>The paper's random split inflated tweet accuracy by 5.0 points; holding out whole politicians gives the honest number.</a:t>
            </a:r>
          </a:p>
          <a:p>
            <a:pPr algn="l" marL="274320" indent="-274320">
              <a:lnSpc>
                <a:spcPct val="105000"/>
              </a:lnSpc>
              <a:spcAft>
                <a:spcPts val="1400"/>
              </a:spcAft>
              <a:buClr>
                <a:srgbClr val="088192"/>
              </a:buClr>
              <a:buFont typeface="Arial"/>
              <a:buChar char="•"/>
            </a:pPr>
            <a:r>
              <a:rPr sz="1800" b="0" i="0">
                <a:solidFill>
                  <a:srgbClr val="051218"/>
                </a:solidFill>
                <a:latin typeface="Calibri"/>
              </a:rPr>
              <a:t>Training and testing within the same domain gives the clearest improvement.</a:t>
            </a:r>
          </a:p>
        </p:txBody>
      </p:sp>
      <p:sp>
        <p:nvSpPr>
          <p:cNvPr id="10"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RESULTS</a:t>
            </a:r>
          </a:p>
        </p:txBody>
      </p:sp>
      <p:sp>
        <p:nvSpPr>
          <p:cNvPr id="12"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itle"/>
          <p:cNvSpPr txBox="1"/>
          <p:nvPr/>
        </p:nvSpPr>
        <p:spPr>
          <a:xfrm>
            <a:off x="548640" y="411480"/>
            <a:ext cx="11094415" cy="548640"/>
          </a:xfrm>
          <a:prstGeom prst="rect">
            <a:avLst/>
          </a:prstGeom>
          <a:noFill/>
        </p:spPr>
        <p:txBody>
          <a:bodyPr wrap="square" lIns="0" rIns="0" tIns="0" bIns="0" anchor="ctr">
            <a:spAutoFit/>
          </a:bodyPr>
          <a:lstStyle/>
          <a:p>
            <a:r>
              <a:rPr sz="2600" b="1" i="0" spc="400">
                <a:solidFill>
                  <a:srgbClr val="051218"/>
                </a:solidFill>
                <a:latin typeface="Georgia"/>
              </a:rPr>
              <a:t>LIMITATIONS</a:t>
            </a:r>
            <a:r>
              <a:rPr sz="2600" b="0" i="0" spc="400">
                <a:solidFill>
                  <a:srgbClr val="051218"/>
                </a:solidFill>
                <a:latin typeface="Georgia"/>
              </a:rPr>
              <a:t> AND NEXT STEPS</a:t>
            </a:r>
          </a:p>
        </p:txBody>
      </p:sp>
      <p:sp>
        <p:nvSpPr>
          <p:cNvPr id="3" name="Bullets"/>
          <p:cNvSpPr txBox="1"/>
          <p:nvPr/>
        </p:nvSpPr>
        <p:spPr>
          <a:xfrm>
            <a:off x="548640" y="1417320"/>
            <a:ext cx="11094415" cy="4617720"/>
          </a:xfrm>
          <a:prstGeom prst="rect">
            <a:avLst/>
          </a:prstGeom>
          <a:noFill/>
        </p:spPr>
        <p:txBody>
          <a:bodyPr wrap="square" lIns="0" rIns="0" tIns="0" bIns="0" anchor="ctr">
            <a:spAutoFit/>
          </a:bodyPr>
          <a:lstStyle/>
          <a:p>
            <a:pPr algn="l" marL="274320" indent="-274320">
              <a:lnSpc>
                <a:spcPct val="105000"/>
              </a:lnSpc>
              <a:spcAft>
                <a:spcPts val="2000"/>
              </a:spcAft>
              <a:buClr>
                <a:srgbClr val="088192"/>
              </a:buClr>
              <a:buFont typeface="Arial"/>
              <a:buChar char="•"/>
            </a:pPr>
            <a:r>
              <a:rPr sz="2000" b="0" i="0">
                <a:solidFill>
                  <a:srgbClr val="051218"/>
                </a:solidFill>
                <a:latin typeface="Calibri"/>
              </a:rPr>
              <a:t>Labels come from politicians and media outlets, so an individual text may not match its label.</a:t>
            </a:r>
          </a:p>
          <a:p>
            <a:pPr algn="l" marL="274320" indent="-274320">
              <a:lnSpc>
                <a:spcPct val="105000"/>
              </a:lnSpc>
              <a:spcAft>
                <a:spcPts val="2000"/>
              </a:spcAft>
              <a:buClr>
                <a:srgbClr val="088192"/>
              </a:buClr>
              <a:buFont typeface="Arial"/>
              <a:buChar char="•"/>
            </a:pPr>
            <a:r>
              <a:rPr sz="2000" b="0" i="0">
                <a:solidFill>
                  <a:srgbClr val="051218"/>
                </a:solidFill>
                <a:latin typeface="Calibri"/>
              </a:rPr>
              <a:t>Tweet-trained models do not transfer reliably to article language.</a:t>
            </a:r>
          </a:p>
          <a:p>
            <a:pPr algn="l" marL="274320" indent="-274320">
              <a:lnSpc>
                <a:spcPct val="105000"/>
              </a:lnSpc>
              <a:spcAft>
                <a:spcPts val="2000"/>
              </a:spcAft>
              <a:buClr>
                <a:srgbClr val="088192"/>
              </a:buClr>
              <a:buFont typeface="Arial"/>
              <a:buChar char="•"/>
            </a:pPr>
            <a:r>
              <a:rPr sz="2000" b="0" i="0">
                <a:solidFill>
                  <a:srgbClr val="051218"/>
                </a:solidFill>
                <a:latin typeface="Calibri"/>
              </a:rPr>
              <a:t>The three-class article task peaks at 53.7% accuracy.</a:t>
            </a:r>
          </a:p>
          <a:p>
            <a:pPr algn="l" marL="274320" indent="-274320">
              <a:lnSpc>
                <a:spcPct val="105000"/>
              </a:lnSpc>
              <a:spcAft>
                <a:spcPts val="2000"/>
              </a:spcAft>
              <a:buClr>
                <a:srgbClr val="088192"/>
              </a:buClr>
              <a:buFont typeface="Arial"/>
              <a:buChar char="•"/>
            </a:pPr>
            <a:r>
              <a:rPr sz="2000" b="0" i="0">
                <a:solidFill>
                  <a:srgbClr val="051218"/>
                </a:solidFill>
                <a:latin typeface="Calibri"/>
              </a:rPr>
              <a:t>Next: collect article-level labels and test on later time periods and new outlets.</a:t>
            </a:r>
          </a:p>
        </p:txBody>
      </p:sp>
      <p:sp>
        <p:nvSpPr>
          <p:cNvPr id="4" name="Footer band"/>
          <p:cNvSpPr/>
          <p:nvPr/>
        </p:nvSpPr>
        <p:spPr>
          <a:xfrm>
            <a:off x="0" y="6355080"/>
            <a:ext cx="12191695" cy="502920"/>
          </a:xfrm>
          <a:prstGeom prst="rect">
            <a:avLst/>
          </a:prstGeom>
          <a:solidFill>
            <a:srgbClr val="0539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section"/>
          <p:cNvSpPr txBox="1"/>
          <p:nvPr/>
        </p:nvSpPr>
        <p:spPr>
          <a:xfrm>
            <a:off x="548640" y="6355080"/>
            <a:ext cx="7315200" cy="502920"/>
          </a:xfrm>
          <a:prstGeom prst="rect">
            <a:avLst/>
          </a:prstGeom>
          <a:noFill/>
        </p:spPr>
        <p:txBody>
          <a:bodyPr wrap="square" lIns="0" rIns="0" tIns="0" bIns="0" anchor="ctr">
            <a:spAutoFit/>
          </a:bodyPr>
          <a:lstStyle/>
          <a:p>
            <a:pPr algn="l">
              <a:spcAft>
                <a:spcPts val="0"/>
              </a:spcAft>
            </a:pPr>
            <a:r>
              <a:rPr sz="1100" b="0" i="0" spc="200">
                <a:solidFill>
                  <a:srgbClr val="F2EFE6"/>
                </a:solidFill>
                <a:latin typeface="Calibri"/>
              </a:rPr>
              <a:t>CONCLUSIONS</a:t>
            </a:r>
          </a:p>
        </p:txBody>
      </p:sp>
      <p:sp>
        <p:nvSpPr>
          <p:cNvPr id="6" name="Slide number"/>
          <p:cNvSpPr txBox="1"/>
          <p:nvPr/>
        </p:nvSpPr>
        <p:spPr>
          <a:xfrm>
            <a:off x="9814255" y="6355080"/>
            <a:ext cx="1828800" cy="502920"/>
          </a:xfrm>
          <a:prstGeom prst="rect">
            <a:avLst/>
          </a:prstGeom>
          <a:noFill/>
        </p:spPr>
        <p:txBody>
          <a:bodyPr wrap="square" lIns="0" rIns="0" tIns="0" bIns="0" anchor="ctr">
            <a:spAutoFit/>
          </a:bodyPr>
          <a:lstStyle/>
          <a:p>
            <a:pPr algn="r">
              <a:spcAft>
                <a:spcPts val="0"/>
              </a:spcAft>
            </a:pPr>
            <a:r>
              <a:rPr sz="1100" b="1" i="0" spc="200">
                <a:solidFill>
                  <a:srgbClr val="BCAC7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EFE6"/>
        </a:solidFill>
        <a:effectLst/>
      </p:bgPr>
    </p:bg>
    <p:spTree>
      <p:nvGrpSpPr>
        <p:cNvPr id="1" name=""/>
        <p:cNvGrpSpPr/>
        <p:nvPr/>
      </p:nvGrpSpPr>
      <p:grpSpPr/>
      <p:sp>
        <p:nvSpPr>
          <p:cNvPr id="2" name="Thank you panel"/>
          <p:cNvSpPr/>
          <p:nvPr/>
        </p:nvSpPr>
        <p:spPr>
          <a:xfrm>
            <a:off x="0" y="0"/>
            <a:ext cx="8961120" cy="6858000"/>
          </a:xfrm>
          <a:prstGeom prst="rect">
            <a:avLst/>
          </a:prstGeom>
          <a:solidFill>
            <a:srgbClr val="05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ank you text"/>
          <p:cNvSpPr txBox="1"/>
          <p:nvPr/>
        </p:nvSpPr>
        <p:spPr>
          <a:xfrm>
            <a:off x="914400" y="2011680"/>
            <a:ext cx="7132320" cy="2743200"/>
          </a:xfrm>
          <a:prstGeom prst="rect">
            <a:avLst/>
          </a:prstGeom>
          <a:noFill/>
        </p:spPr>
        <p:txBody>
          <a:bodyPr wrap="square" lIns="0" rIns="0" tIns="0" bIns="0" anchor="ctr">
            <a:spAutoFit/>
          </a:bodyPr>
          <a:lstStyle/>
          <a:p>
            <a:pPr algn="ctr">
              <a:spcAft>
                <a:spcPts val="1800"/>
              </a:spcAft>
            </a:pPr>
            <a:r>
              <a:rPr sz="4400" b="1" i="0" spc="600">
                <a:solidFill>
                  <a:srgbClr val="F2EFE6"/>
                </a:solidFill>
                <a:latin typeface="Georgia"/>
              </a:rPr>
              <a:t>THANK YOU</a:t>
            </a:r>
          </a:p>
          <a:p>
            <a:pPr algn="ctr">
              <a:spcAft>
                <a:spcPts val="0"/>
              </a:spcAft>
            </a:pPr>
            <a:r>
              <a:rPr sz="1800" b="0" i="0">
                <a:solidFill>
                  <a:srgbClr val="BCAC79"/>
                </a:solidFill>
                <a:latin typeface="Calibri"/>
              </a:rPr>
              <a:t>Political bias classification from tweets and news articles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Categorizing News Articles on Political Bias</dc:title>
  <dc:subject/>
  <dc:creator>Team 16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